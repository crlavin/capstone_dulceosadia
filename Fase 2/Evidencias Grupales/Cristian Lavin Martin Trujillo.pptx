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Funtastic" panose="020B0604020202020204" charset="0"/>
      <p:regular r:id="rId22"/>
    </p:embeddedFont>
    <p:embeddedFont>
      <p:font typeface="Open Sans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3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963" b="-3896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4702982" y="704809"/>
            <a:ext cx="8882036" cy="8877383"/>
          </a:xfrm>
          <a:custGeom>
            <a:avLst/>
            <a:gdLst/>
            <a:ahLst/>
            <a:cxnLst/>
            <a:rect l="l" t="t" r="r" b="b"/>
            <a:pathLst>
              <a:path w="8882036" h="8877383">
                <a:moveTo>
                  <a:pt x="0" y="0"/>
                </a:moveTo>
                <a:lnTo>
                  <a:pt x="8882036" y="0"/>
                </a:lnTo>
                <a:lnTo>
                  <a:pt x="8882036" y="8877382"/>
                </a:lnTo>
                <a:lnTo>
                  <a:pt x="0" y="88773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12469389" y="6395159"/>
            <a:ext cx="4897420" cy="3499429"/>
          </a:xfrm>
          <a:custGeom>
            <a:avLst/>
            <a:gdLst/>
            <a:ahLst/>
            <a:cxnLst/>
            <a:rect l="l" t="t" r="r" b="b"/>
            <a:pathLst>
              <a:path w="4897420" h="3499429">
                <a:moveTo>
                  <a:pt x="0" y="0"/>
                </a:moveTo>
                <a:lnTo>
                  <a:pt x="4897420" y="0"/>
                </a:lnTo>
                <a:lnTo>
                  <a:pt x="4897420" y="3499429"/>
                </a:lnTo>
                <a:lnTo>
                  <a:pt x="0" y="34994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5436634" y="2737311"/>
            <a:ext cx="2091706" cy="1908681"/>
          </a:xfrm>
          <a:custGeom>
            <a:avLst/>
            <a:gdLst/>
            <a:ahLst/>
            <a:cxnLst/>
            <a:rect l="l" t="t" r="r" b="b"/>
            <a:pathLst>
              <a:path w="2091706" h="1908681">
                <a:moveTo>
                  <a:pt x="0" y="0"/>
                </a:moveTo>
                <a:lnTo>
                  <a:pt x="2091705" y="0"/>
                </a:lnTo>
                <a:lnTo>
                  <a:pt x="2091705" y="1908681"/>
                </a:lnTo>
                <a:lnTo>
                  <a:pt x="0" y="1908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13311068" y="6929364"/>
            <a:ext cx="3214061" cy="1407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79"/>
              </a:lnSpc>
            </a:pPr>
            <a:r>
              <a:rPr lang="en-US" sz="3842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Cristian Lavin</a:t>
            </a:r>
          </a:p>
          <a:p>
            <a:pPr algn="ctr">
              <a:lnSpc>
                <a:spcPts val="5379"/>
              </a:lnSpc>
            </a:pPr>
            <a:r>
              <a:rPr lang="en-US" sz="3842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Martin Trujillo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D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45596" y="159703"/>
            <a:ext cx="8013204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Problematica</a:t>
            </a:r>
            <a:endParaRPr lang="en-US" sz="92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56208" y="2601356"/>
            <a:ext cx="16775584" cy="4713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Dulce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Osadía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carece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visibilidad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tiempo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real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sobre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sus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materias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primas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lo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que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provoca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quiebres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stock,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desperdicios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por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caducidad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y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demoras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al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calcular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manualmente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las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cantidades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necesarias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para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cada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producto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Además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la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ausencia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un canal de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ventas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línea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limita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alcance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clientes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locales y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dificulta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seguimiento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pedidos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y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cobros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generando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pérdidas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oportunidad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y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sobrecargas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815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administrativas</a:t>
            </a:r>
            <a:r>
              <a:rPr lang="en-US" sz="381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D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45596" y="-171450"/>
            <a:ext cx="7937004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Problematica</a:t>
            </a:r>
            <a:endParaRPr lang="en-US" sz="92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76054" y="1366519"/>
            <a:ext cx="17191196" cy="9062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Estructura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General</a:t>
            </a:r>
          </a:p>
          <a:p>
            <a:pPr algn="l">
              <a:lnSpc>
                <a:spcPts val="2519"/>
              </a:lnSpc>
            </a:pPr>
            <a:endParaRPr lang="en-US" sz="1799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388618" lvl="1" indent="-194309" algn="l">
              <a:lnSpc>
                <a:spcPts val="2519"/>
              </a:lnSpc>
              <a:buFont typeface="Arial"/>
              <a:buChar char="•"/>
            </a:pP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Frontend: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Construido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con HTML, CSS y JavaScript. </a:t>
            </a:r>
          </a:p>
          <a:p>
            <a:pPr marL="388618" lvl="1" indent="-194309" algn="l">
              <a:lnSpc>
                <a:spcPts val="2519"/>
              </a:lnSpc>
              <a:buFont typeface="Arial"/>
              <a:buChar char="•"/>
            </a:pP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Backend (PHP)</a:t>
            </a:r>
          </a:p>
          <a:p>
            <a:pPr marL="388618" lvl="1" indent="-194309" algn="l">
              <a:lnSpc>
                <a:spcPts val="2519"/>
              </a:lnSpc>
              <a:buFont typeface="Arial"/>
              <a:buChar char="•"/>
            </a:pP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Base de Datos (SQL)</a:t>
            </a:r>
          </a:p>
          <a:p>
            <a:pPr algn="l">
              <a:lnSpc>
                <a:spcPts val="2519"/>
              </a:lnSpc>
            </a:pPr>
            <a:endParaRPr lang="en-US" sz="1799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2519"/>
              </a:lnSpc>
            </a:pP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Funcionalidades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Principales</a:t>
            </a:r>
            <a:endParaRPr lang="en-US" sz="1799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2519"/>
              </a:lnSpc>
            </a:pPr>
            <a:endParaRPr lang="en-US" sz="1799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388618" lvl="1" indent="-194309" algn="l">
              <a:lnSpc>
                <a:spcPts val="2519"/>
              </a:lnSpc>
              <a:buAutoNum type="arabicPeriod"/>
            </a:pP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Gestión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Cuentas de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Usuario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</a:t>
            </a:r>
          </a:p>
          <a:p>
            <a:pPr marL="777237" lvl="2" indent="-259079" algn="l">
              <a:lnSpc>
                <a:spcPts val="2519"/>
              </a:lnSpc>
              <a:buFont typeface="Arial"/>
              <a:buChar char="⚬"/>
            </a:pP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Permite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registro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inicio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sesión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y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cierre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sesión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  <a:p>
            <a:pPr marL="777237" lvl="2" indent="-259079" algn="l">
              <a:lnSpc>
                <a:spcPts val="2519"/>
              </a:lnSpc>
              <a:buFont typeface="Arial"/>
              <a:buChar char="⚬"/>
            </a:pP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Incluye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un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flujo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completo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para la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activación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cuentas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por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correo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electrónico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y la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recuperación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contraseñas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  <a:p>
            <a:pPr marL="388618" lvl="1" indent="-194309" algn="l">
              <a:lnSpc>
                <a:spcPts val="2519"/>
              </a:lnSpc>
              <a:buAutoNum type="arabicPeriod"/>
            </a:pP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Catálogo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y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Carrito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Compras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</a:t>
            </a:r>
          </a:p>
          <a:p>
            <a:pPr marL="777237" lvl="2" indent="-259079" algn="l">
              <a:lnSpc>
                <a:spcPts val="2519"/>
              </a:lnSpc>
              <a:buFont typeface="Arial"/>
              <a:buChar char="⚬"/>
            </a:pP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Muestra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un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listado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productos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y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páginas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detalle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para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cada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uno.</a:t>
            </a:r>
          </a:p>
          <a:p>
            <a:pPr marL="777237" lvl="2" indent="-259079" algn="l">
              <a:lnSpc>
                <a:spcPts val="2519"/>
              </a:lnSpc>
              <a:buFont typeface="Arial"/>
              <a:buChar char="⚬"/>
            </a:pP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Los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usuarios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pueden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agregar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actualizar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y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eliminar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productos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carrito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compras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  <a:p>
            <a:pPr marL="388618" lvl="1" indent="-194309" algn="l">
              <a:lnSpc>
                <a:spcPts val="2519"/>
              </a:lnSpc>
              <a:buAutoNum type="arabicPeriod"/>
            </a:pP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Proceso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Pago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Completo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</a:t>
            </a:r>
          </a:p>
          <a:p>
            <a:pPr marL="777237" lvl="2" indent="-259079" algn="l">
              <a:lnSpc>
                <a:spcPts val="2519"/>
              </a:lnSpc>
              <a:buFont typeface="Arial"/>
              <a:buChar char="⚬"/>
            </a:pP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flujo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desde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carrito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hasta la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página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finalización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compra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  <a:p>
            <a:pPr marL="777237" lvl="2" indent="-259079" algn="l">
              <a:lnSpc>
                <a:spcPts val="2519"/>
              </a:lnSpc>
              <a:buFont typeface="Arial"/>
              <a:buChar char="⚬"/>
            </a:pP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 la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pasarela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pago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Transbank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través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SDK para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crear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y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verificar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transacciones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forma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segura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  <a:p>
            <a:pPr marL="388618" lvl="1" indent="-194309" algn="l">
              <a:lnSpc>
                <a:spcPts val="2519"/>
              </a:lnSpc>
              <a:buAutoNum type="arabicPeriod"/>
            </a:pP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Notificaciones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y Administración:</a:t>
            </a:r>
          </a:p>
          <a:p>
            <a:pPr marL="777237" lvl="2" indent="-259079" algn="l">
              <a:lnSpc>
                <a:spcPts val="2519"/>
              </a:lnSpc>
              <a:buFont typeface="Arial"/>
              <a:buChar char="⚬"/>
            </a:pP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Utiliza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la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librería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PHPMailer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para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enviar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correos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electrónicos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transaccionales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(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activación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recuperación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contraseña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confirmación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compra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).</a:t>
            </a:r>
          </a:p>
          <a:p>
            <a:pPr marL="777237" lvl="2" indent="-259079" algn="l">
              <a:lnSpc>
                <a:spcPts val="2519"/>
              </a:lnSpc>
              <a:buFont typeface="Arial"/>
              <a:buChar char="⚬"/>
            </a:pP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Incluye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scripts y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páginas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para la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gestión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interna de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recetas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insumos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  <a:p>
            <a:pPr algn="l">
              <a:lnSpc>
                <a:spcPts val="2519"/>
              </a:lnSpc>
            </a:pPr>
            <a:endParaRPr lang="en-US" sz="1799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2519"/>
              </a:lnSpc>
            </a:pP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Tecnologías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y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Dependencias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Clave</a:t>
            </a:r>
          </a:p>
          <a:p>
            <a:pPr algn="l">
              <a:lnSpc>
                <a:spcPts val="2519"/>
              </a:lnSpc>
            </a:pPr>
            <a:endParaRPr lang="en-US" sz="1799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388618" lvl="1" indent="-194309" algn="l">
              <a:lnSpc>
                <a:spcPts val="2519"/>
              </a:lnSpc>
              <a:buFont typeface="Arial"/>
              <a:buChar char="•"/>
            </a:pP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PHP: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Lenguaje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principal del backend.</a:t>
            </a:r>
          </a:p>
          <a:p>
            <a:pPr marL="388618" lvl="1" indent="-194309" algn="l">
              <a:lnSpc>
                <a:spcPts val="2519"/>
              </a:lnSpc>
              <a:buFont typeface="Arial"/>
              <a:buChar char="•"/>
            </a:pP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Composer: Gestor de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dependencias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PHP. Las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librerías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más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importantes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son:</a:t>
            </a:r>
          </a:p>
          <a:p>
            <a:pPr marL="777237" lvl="2" indent="-259079" algn="l">
              <a:lnSpc>
                <a:spcPts val="2519"/>
              </a:lnSpc>
              <a:buFont typeface="Arial"/>
              <a:buChar char="⚬"/>
            </a:pP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Transbank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SDK: Para la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integración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la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pasarela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pagos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  <a:p>
            <a:pPr marL="777237" lvl="2" indent="-259079" algn="l">
              <a:lnSpc>
                <a:spcPts val="2519"/>
              </a:lnSpc>
              <a:buFont typeface="Arial"/>
              <a:buChar char="⚬"/>
            </a:pP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PHPMailer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Para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envío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correos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electrónicos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  <a:p>
            <a:pPr marL="777237" lvl="2" indent="-259079" algn="l">
              <a:lnSpc>
                <a:spcPts val="2519"/>
              </a:lnSpc>
              <a:buFont typeface="Arial"/>
              <a:buChar char="⚬"/>
            </a:pP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phpdotenv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Para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gestionar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variables de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entorno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(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como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credenciales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base de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datos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y claves de API) de forma </a:t>
            </a:r>
            <a:r>
              <a:rPr lang="en-US" sz="17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segura</a:t>
            </a:r>
            <a:r>
              <a:rPr lang="en-US" sz="17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endParaRPr lang="en-US" sz="1799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D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93371" y="2141603"/>
            <a:ext cx="11301259" cy="6003794"/>
          </a:xfrm>
          <a:custGeom>
            <a:avLst/>
            <a:gdLst/>
            <a:ahLst/>
            <a:cxnLst/>
            <a:rect l="l" t="t" r="r" b="b"/>
            <a:pathLst>
              <a:path w="11301259" h="6003794">
                <a:moveTo>
                  <a:pt x="0" y="0"/>
                </a:moveTo>
                <a:lnTo>
                  <a:pt x="11301258" y="0"/>
                </a:lnTo>
                <a:lnTo>
                  <a:pt x="11301258" y="6003794"/>
                </a:lnTo>
                <a:lnTo>
                  <a:pt x="0" y="6003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6674048" y="50048"/>
            <a:ext cx="5060752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</a:t>
            </a:r>
            <a:endParaRPr lang="en-US" sz="92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D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93371" y="2141603"/>
            <a:ext cx="11301259" cy="6003794"/>
          </a:xfrm>
          <a:custGeom>
            <a:avLst/>
            <a:gdLst/>
            <a:ahLst/>
            <a:cxnLst/>
            <a:rect l="l" t="t" r="r" b="b"/>
            <a:pathLst>
              <a:path w="11301259" h="6003794">
                <a:moveTo>
                  <a:pt x="0" y="0"/>
                </a:moveTo>
                <a:lnTo>
                  <a:pt x="11301258" y="0"/>
                </a:lnTo>
                <a:lnTo>
                  <a:pt x="11301258" y="6003794"/>
                </a:lnTo>
                <a:lnTo>
                  <a:pt x="0" y="6003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6674048" y="50048"/>
            <a:ext cx="5213152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</a:t>
            </a:r>
            <a:endParaRPr lang="en-US" sz="92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D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83846" y="2141603"/>
            <a:ext cx="11301259" cy="6003794"/>
          </a:xfrm>
          <a:custGeom>
            <a:avLst/>
            <a:gdLst/>
            <a:ahLst/>
            <a:cxnLst/>
            <a:rect l="l" t="t" r="r" b="b"/>
            <a:pathLst>
              <a:path w="11301259" h="6003794">
                <a:moveTo>
                  <a:pt x="0" y="0"/>
                </a:moveTo>
                <a:lnTo>
                  <a:pt x="11301258" y="0"/>
                </a:lnTo>
                <a:lnTo>
                  <a:pt x="11301258" y="6003794"/>
                </a:lnTo>
                <a:lnTo>
                  <a:pt x="0" y="6003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6674048" y="50048"/>
            <a:ext cx="5289352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</a:t>
            </a:r>
            <a:endParaRPr lang="en-US" sz="92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D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93371" y="2141603"/>
            <a:ext cx="11301259" cy="6003794"/>
          </a:xfrm>
          <a:custGeom>
            <a:avLst/>
            <a:gdLst/>
            <a:ahLst/>
            <a:cxnLst/>
            <a:rect l="l" t="t" r="r" b="b"/>
            <a:pathLst>
              <a:path w="11301259" h="6003794">
                <a:moveTo>
                  <a:pt x="0" y="0"/>
                </a:moveTo>
                <a:lnTo>
                  <a:pt x="11301258" y="0"/>
                </a:lnTo>
                <a:lnTo>
                  <a:pt x="11301258" y="6003794"/>
                </a:lnTo>
                <a:lnTo>
                  <a:pt x="0" y="6003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6674048" y="50048"/>
            <a:ext cx="5441752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</a:t>
            </a:r>
            <a:endParaRPr lang="en-US" sz="92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D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93371" y="2141603"/>
            <a:ext cx="11301259" cy="6003794"/>
          </a:xfrm>
          <a:custGeom>
            <a:avLst/>
            <a:gdLst/>
            <a:ahLst/>
            <a:cxnLst/>
            <a:rect l="l" t="t" r="r" b="b"/>
            <a:pathLst>
              <a:path w="11301259" h="6003794">
                <a:moveTo>
                  <a:pt x="0" y="0"/>
                </a:moveTo>
                <a:lnTo>
                  <a:pt x="11301258" y="0"/>
                </a:lnTo>
                <a:lnTo>
                  <a:pt x="11301258" y="6003794"/>
                </a:lnTo>
                <a:lnTo>
                  <a:pt x="0" y="6003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6674048" y="50048"/>
            <a:ext cx="5136952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</a:t>
            </a:r>
            <a:endParaRPr lang="en-US" sz="92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D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74048" y="50048"/>
            <a:ext cx="5060752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</a:t>
            </a:r>
            <a:endParaRPr lang="en-US" sz="92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3493371" y="2141603"/>
            <a:ext cx="11301259" cy="6003794"/>
          </a:xfrm>
          <a:custGeom>
            <a:avLst/>
            <a:gdLst/>
            <a:ahLst/>
            <a:cxnLst/>
            <a:rect l="l" t="t" r="r" b="b"/>
            <a:pathLst>
              <a:path w="11301259" h="6003794">
                <a:moveTo>
                  <a:pt x="0" y="0"/>
                </a:moveTo>
                <a:lnTo>
                  <a:pt x="11301258" y="0"/>
                </a:lnTo>
                <a:lnTo>
                  <a:pt x="11301258" y="6003794"/>
                </a:lnTo>
                <a:lnTo>
                  <a:pt x="0" y="6003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D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93371" y="2141603"/>
            <a:ext cx="11301259" cy="6003794"/>
          </a:xfrm>
          <a:custGeom>
            <a:avLst/>
            <a:gdLst/>
            <a:ahLst/>
            <a:cxnLst/>
            <a:rect l="l" t="t" r="r" b="b"/>
            <a:pathLst>
              <a:path w="11301259" h="6003794">
                <a:moveTo>
                  <a:pt x="0" y="0"/>
                </a:moveTo>
                <a:lnTo>
                  <a:pt x="11301258" y="0"/>
                </a:lnTo>
                <a:lnTo>
                  <a:pt x="11301258" y="6003794"/>
                </a:lnTo>
                <a:lnTo>
                  <a:pt x="0" y="6003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6674048" y="50048"/>
            <a:ext cx="5060752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</a:t>
            </a:r>
            <a:endParaRPr lang="en-US" sz="92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D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93371" y="2141603"/>
            <a:ext cx="11301259" cy="6003794"/>
          </a:xfrm>
          <a:custGeom>
            <a:avLst/>
            <a:gdLst/>
            <a:ahLst/>
            <a:cxnLst/>
            <a:rect l="l" t="t" r="r" b="b"/>
            <a:pathLst>
              <a:path w="11301259" h="6003794">
                <a:moveTo>
                  <a:pt x="0" y="0"/>
                </a:moveTo>
                <a:lnTo>
                  <a:pt x="11301258" y="0"/>
                </a:lnTo>
                <a:lnTo>
                  <a:pt x="11301258" y="6003794"/>
                </a:lnTo>
                <a:lnTo>
                  <a:pt x="0" y="6003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6674048" y="50048"/>
            <a:ext cx="5136952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</a:t>
            </a:r>
            <a:endParaRPr lang="en-US" sz="92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D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93371" y="2141603"/>
            <a:ext cx="11301259" cy="6003794"/>
          </a:xfrm>
          <a:custGeom>
            <a:avLst/>
            <a:gdLst/>
            <a:ahLst/>
            <a:cxnLst/>
            <a:rect l="l" t="t" r="r" b="b"/>
            <a:pathLst>
              <a:path w="11301259" h="6003794">
                <a:moveTo>
                  <a:pt x="0" y="0"/>
                </a:moveTo>
                <a:lnTo>
                  <a:pt x="11301258" y="0"/>
                </a:lnTo>
                <a:lnTo>
                  <a:pt x="11301258" y="6003794"/>
                </a:lnTo>
                <a:lnTo>
                  <a:pt x="0" y="6003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6674048" y="50048"/>
            <a:ext cx="5289352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</a:t>
            </a:r>
            <a:endParaRPr lang="en-US" sz="92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D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12421" y="2141603"/>
            <a:ext cx="11301259" cy="6003794"/>
          </a:xfrm>
          <a:custGeom>
            <a:avLst/>
            <a:gdLst/>
            <a:ahLst/>
            <a:cxnLst/>
            <a:rect l="l" t="t" r="r" b="b"/>
            <a:pathLst>
              <a:path w="11301259" h="6003794">
                <a:moveTo>
                  <a:pt x="0" y="0"/>
                </a:moveTo>
                <a:lnTo>
                  <a:pt x="11301258" y="0"/>
                </a:lnTo>
                <a:lnTo>
                  <a:pt x="11301258" y="6003794"/>
                </a:lnTo>
                <a:lnTo>
                  <a:pt x="0" y="6003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6674048" y="50048"/>
            <a:ext cx="5060752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</a:t>
            </a:r>
            <a:endParaRPr lang="en-US" sz="92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D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93371" y="2141603"/>
            <a:ext cx="11301259" cy="6003794"/>
          </a:xfrm>
          <a:custGeom>
            <a:avLst/>
            <a:gdLst/>
            <a:ahLst/>
            <a:cxnLst/>
            <a:rect l="l" t="t" r="r" b="b"/>
            <a:pathLst>
              <a:path w="11301259" h="6003794">
                <a:moveTo>
                  <a:pt x="0" y="0"/>
                </a:moveTo>
                <a:lnTo>
                  <a:pt x="11301258" y="0"/>
                </a:lnTo>
                <a:lnTo>
                  <a:pt x="11301258" y="6003794"/>
                </a:lnTo>
                <a:lnTo>
                  <a:pt x="0" y="6003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6674048" y="50048"/>
            <a:ext cx="5136952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</a:t>
            </a:r>
            <a:endParaRPr lang="en-US" sz="92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D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93371" y="2141603"/>
            <a:ext cx="11301259" cy="6003794"/>
          </a:xfrm>
          <a:custGeom>
            <a:avLst/>
            <a:gdLst/>
            <a:ahLst/>
            <a:cxnLst/>
            <a:rect l="l" t="t" r="r" b="b"/>
            <a:pathLst>
              <a:path w="11301259" h="6003794">
                <a:moveTo>
                  <a:pt x="0" y="0"/>
                </a:moveTo>
                <a:lnTo>
                  <a:pt x="11301258" y="0"/>
                </a:lnTo>
                <a:lnTo>
                  <a:pt x="11301258" y="6003794"/>
                </a:lnTo>
                <a:lnTo>
                  <a:pt x="0" y="6003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6674048" y="50048"/>
            <a:ext cx="5289352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</a:t>
            </a:r>
            <a:endParaRPr lang="en-US" sz="92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D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26976" y="2052588"/>
            <a:ext cx="7234048" cy="6181823"/>
          </a:xfrm>
          <a:custGeom>
            <a:avLst/>
            <a:gdLst/>
            <a:ahLst/>
            <a:cxnLst/>
            <a:rect l="l" t="t" r="r" b="b"/>
            <a:pathLst>
              <a:path w="7234048" h="6181823">
                <a:moveTo>
                  <a:pt x="0" y="0"/>
                </a:moveTo>
                <a:lnTo>
                  <a:pt x="7234048" y="0"/>
                </a:lnTo>
                <a:lnTo>
                  <a:pt x="7234048" y="6181824"/>
                </a:lnTo>
                <a:lnTo>
                  <a:pt x="0" y="6181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6674048" y="50048"/>
            <a:ext cx="5136952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</a:t>
            </a:r>
            <a:endParaRPr lang="en-US" sz="92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D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80014" y="1579300"/>
            <a:ext cx="12727972" cy="7128401"/>
          </a:xfrm>
          <a:custGeom>
            <a:avLst/>
            <a:gdLst/>
            <a:ahLst/>
            <a:cxnLst/>
            <a:rect l="l" t="t" r="r" b="b"/>
            <a:pathLst>
              <a:path w="12727972" h="7128401">
                <a:moveTo>
                  <a:pt x="0" y="0"/>
                </a:moveTo>
                <a:lnTo>
                  <a:pt x="12727972" y="0"/>
                </a:lnTo>
                <a:lnTo>
                  <a:pt x="12727972" y="7128400"/>
                </a:lnTo>
                <a:lnTo>
                  <a:pt x="0" y="7128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2699538" y="1755129"/>
            <a:ext cx="12888925" cy="6776741"/>
          </a:xfrm>
          <a:custGeom>
            <a:avLst/>
            <a:gdLst/>
            <a:ahLst/>
            <a:cxnLst/>
            <a:rect l="l" t="t" r="r" b="b"/>
            <a:pathLst>
              <a:path w="12888925" h="6776741">
                <a:moveTo>
                  <a:pt x="0" y="0"/>
                </a:moveTo>
                <a:lnTo>
                  <a:pt x="12888924" y="0"/>
                </a:lnTo>
                <a:lnTo>
                  <a:pt x="12888924" y="6776742"/>
                </a:lnTo>
                <a:lnTo>
                  <a:pt x="0" y="6776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6674048" y="50048"/>
            <a:ext cx="5136952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</a:t>
            </a:r>
            <a:endParaRPr lang="en-US" sz="92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D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87309" y="2151867"/>
            <a:ext cx="8313382" cy="5983266"/>
          </a:xfrm>
          <a:custGeom>
            <a:avLst/>
            <a:gdLst/>
            <a:ahLst/>
            <a:cxnLst/>
            <a:rect l="l" t="t" r="r" b="b"/>
            <a:pathLst>
              <a:path w="8313382" h="5983266">
                <a:moveTo>
                  <a:pt x="0" y="0"/>
                </a:moveTo>
                <a:lnTo>
                  <a:pt x="8313382" y="0"/>
                </a:lnTo>
                <a:lnTo>
                  <a:pt x="8313382" y="5983266"/>
                </a:lnTo>
                <a:lnTo>
                  <a:pt x="0" y="59832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6674048" y="50048"/>
            <a:ext cx="5136952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</a:t>
            </a:r>
            <a:endParaRPr lang="en-US" sz="92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D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18064" y="1634019"/>
            <a:ext cx="12851872" cy="7018963"/>
          </a:xfrm>
          <a:custGeom>
            <a:avLst/>
            <a:gdLst/>
            <a:ahLst/>
            <a:cxnLst/>
            <a:rect l="l" t="t" r="r" b="b"/>
            <a:pathLst>
              <a:path w="12851872" h="7018963">
                <a:moveTo>
                  <a:pt x="0" y="0"/>
                </a:moveTo>
                <a:lnTo>
                  <a:pt x="12851872" y="0"/>
                </a:lnTo>
                <a:lnTo>
                  <a:pt x="12851872" y="7018962"/>
                </a:lnTo>
                <a:lnTo>
                  <a:pt x="0" y="7018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6674048" y="50048"/>
            <a:ext cx="4984552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</a:t>
            </a:r>
            <a:endParaRPr lang="en-US" sz="92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D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67400" y="-8603"/>
            <a:ext cx="7004670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Conclusión</a:t>
            </a:r>
            <a:endParaRPr lang="en-US" sz="92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24B6448F-1F37-C9BF-AF04-51BB4814BC37}"/>
              </a:ext>
            </a:extLst>
          </p:cNvPr>
          <p:cNvSpPr txBox="1"/>
          <p:nvPr/>
        </p:nvSpPr>
        <p:spPr>
          <a:xfrm>
            <a:off x="609600" y="1591125"/>
            <a:ext cx="16775584" cy="8052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41"/>
              </a:lnSpc>
            </a:pPr>
            <a:r>
              <a:rPr lang="es-MX" sz="20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 resumen, el proyecto desarrollado ofrece una solución integral y robusta a los problemas críticos que enfrentaba Dulce Osadía. Al abordar la falta de visibilidad de inventario y la ausencia de un canal de ventas digital,  esta plataforma se convierte en una herramienta estratégica para el crecimiento y la eficiencia del negocio. Los beneficios clave de esta implementación son: Optimización de la Gestión Interna: Se ataca directamente la problemática de la falta de visibilidad de materias primas con scripts para la gestión de recetas e insumos, lo que permite reducir los quiebres de stock y el desperdicio por caducidad. Expansión del Mercado y Aumento de Ventas: La creación de un canal de ventas en línea, con un catálogo de productos y un carrito de compras, rompe la barrera local y abre nuevas oportunidades de negocio. Automatización y Reducción de Carga Administrativa: La integración de un proceso de pago completo con Transbank y notificaciones automáticas por correo electrónico simplifican el seguimiento de pedidos y cobros, minimizando la sobrecarga administrativa. Base Tecnológica Sólida: El uso de tecnologías como PHP, SQL y librerías especializadas como Transbank SDK y </a:t>
            </a:r>
            <a:r>
              <a:rPr lang="es-MX" sz="20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PHPMailer</a:t>
            </a:r>
            <a:r>
              <a:rPr lang="es-MX" sz="20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asegura un sistema seguro, funcional y escalable para futuras necesidades. Este sistema web no solo moderniza a Dulce Osadía, sino que le proporciona las herramientas digitales necesarias para mejorar su rentabilidad, optimizar sus operaciones y ofrecer una experiencia de compra profesional a sus clientes.</a:t>
            </a:r>
            <a:endParaRPr lang="en-US" sz="20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584</Words>
  <Application>Microsoft Office PowerPoint</Application>
  <PresentationFormat>Personalizado</PresentationFormat>
  <Paragraphs>51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Open Sans Bold</vt:lpstr>
      <vt:lpstr>Arial</vt:lpstr>
      <vt:lpstr>Funtastic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Cristian Lavin Martin Trujillo</dc:title>
  <cp:lastModifiedBy>CRISTIAN LAVIN</cp:lastModifiedBy>
  <cp:revision>3</cp:revision>
  <dcterms:created xsi:type="dcterms:W3CDTF">2006-08-16T00:00:00Z</dcterms:created>
  <dcterms:modified xsi:type="dcterms:W3CDTF">2025-10-17T13:54:03Z</dcterms:modified>
  <dc:identifier>DAGyHcaboc4</dc:identifier>
</cp:coreProperties>
</file>