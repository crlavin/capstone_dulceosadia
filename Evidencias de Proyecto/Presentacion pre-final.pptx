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65" r:id="rId11"/>
    <p:sldId id="267" r:id="rId12"/>
    <p:sldId id="268" r:id="rId13"/>
    <p:sldId id="266" r:id="rId14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4D5"/>
    <a:srgbClr val="FFF2CC"/>
    <a:srgbClr val="E2EFD9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39" d="100"/>
          <a:sy n="39" d="100"/>
        </p:scale>
        <p:origin x="82" y="100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image" Target="../media/image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Cristian Lavín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Martin Trujillo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 err="1"/>
            <a:t>Developer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 err="1"/>
            <a:t>Developer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BE62047B-8C2B-4B07-9C6F-D39FB3FAC29C}">
      <dgm:prSet phldrT="[Texto]"/>
      <dgm:spPr/>
      <dgm:t>
        <a:bodyPr/>
        <a:lstStyle/>
        <a:p>
          <a:r>
            <a:rPr lang="es-MX" dirty="0"/>
            <a:t>Scrum Master</a:t>
          </a:r>
          <a:endParaRPr lang="es-CL" dirty="0"/>
        </a:p>
      </dgm:t>
    </dgm:pt>
    <dgm:pt modelId="{AD528903-378A-492C-91D4-7FA93F9C83D7}" type="parTrans" cxnId="{E3681E0C-8DAD-41F4-B297-47A7529A858F}">
      <dgm:prSet/>
      <dgm:spPr/>
      <dgm:t>
        <a:bodyPr/>
        <a:lstStyle/>
        <a:p>
          <a:endParaRPr lang="es-CL"/>
        </a:p>
      </dgm:t>
    </dgm:pt>
    <dgm:pt modelId="{F218BC97-7F81-48F8-9A51-8A98DA617295}" type="sibTrans" cxnId="{E3681E0C-8DAD-41F4-B297-47A7529A858F}">
      <dgm:prSet/>
      <dgm:spPr/>
      <dgm:t>
        <a:bodyPr/>
        <a:lstStyle/>
        <a:p>
          <a:endParaRPr lang="es-CL"/>
        </a:p>
      </dgm:t>
    </dgm:pt>
    <dgm:pt modelId="{937F31D4-3340-4DC4-833F-4B23CBBA8E99}">
      <dgm:prSet phldrT="[Texto]"/>
      <dgm:spPr/>
      <dgm:t>
        <a:bodyPr/>
        <a:lstStyle/>
        <a:p>
          <a:r>
            <a:rPr lang="es-MX" dirty="0" err="1"/>
            <a:t>Product</a:t>
          </a:r>
          <a:r>
            <a:rPr lang="es-MX" dirty="0"/>
            <a:t> </a:t>
          </a:r>
          <a:r>
            <a:rPr lang="es-MX" dirty="0" err="1"/>
            <a:t>Owner</a:t>
          </a:r>
          <a:endParaRPr lang="es-CL" dirty="0"/>
        </a:p>
      </dgm:t>
    </dgm:pt>
    <dgm:pt modelId="{35A931B3-2FA2-41DF-8160-F9594CF3071E}" type="parTrans" cxnId="{6768F608-CC42-4EFF-8E69-DC4D6D4254B7}">
      <dgm:prSet/>
      <dgm:spPr/>
      <dgm:t>
        <a:bodyPr/>
        <a:lstStyle/>
        <a:p>
          <a:endParaRPr lang="es-CL"/>
        </a:p>
      </dgm:t>
    </dgm:pt>
    <dgm:pt modelId="{14189FC2-E02F-46CF-8358-D2A1707B877B}" type="sibTrans" cxnId="{6768F608-CC42-4EFF-8E69-DC4D6D4254B7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2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2" custLinFactNeighborX="-6305" custLinFactNeighborY="5063"/>
      <dgm:spPr>
        <a:blipFill>
          <a:blip xmlns:r="http://schemas.openxmlformats.org/officeDocument/2006/relationships" r:embed="rId1"/>
          <a:srcRect/>
          <a:stretch>
            <a:fillRect l="-4000" r="-4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2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2"/>
      <dgm:spPr/>
    </dgm:pt>
    <dgm:pt modelId="{3F97C059-D720-4D48-953F-B84D04D0BF79}" type="pres">
      <dgm:prSet presAssocID="{02A34BC0-F8BA-4A89-87A4-4F20079DFD06}" presName="img" presStyleLbl="fgImgPlace1" presStyleIdx="1" presStyleCnt="2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2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1" presId="urn:microsoft.com/office/officeart/2005/8/layout/vList4"/>
    <dgm:cxn modelId="{6768F608-CC42-4EFF-8E69-DC4D6D4254B7}" srcId="{02A34BC0-F8BA-4A89-87A4-4F20079DFD06}" destId="{937F31D4-3340-4DC4-833F-4B23CBBA8E99}" srcOrd="1" destOrd="0" parTransId="{35A931B3-2FA2-41DF-8160-F9594CF3071E}" sibTransId="{14189FC2-E02F-46CF-8358-D2A1707B877B}"/>
    <dgm:cxn modelId="{E3681E0C-8DAD-41F4-B297-47A7529A858F}" srcId="{78BFB295-8F5D-4286-B72B-79142F8F0E13}" destId="{BE62047B-8C2B-4B07-9C6F-D39FB3FAC29C}" srcOrd="1" destOrd="0" parTransId="{AD528903-378A-492C-91D4-7FA93F9C83D7}" sibTransId="{F218BC97-7F81-48F8-9A51-8A98DA617295}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58100F33-A881-4238-A7FC-28941A0AEA39}" type="presOf" srcId="{BE62047B-8C2B-4B07-9C6F-D39FB3FAC29C}" destId="{52D125D2-FCA7-4A2D-AB39-B6BD54F251F2}" srcOrd="1" destOrd="2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22F3405C-AB8E-4AC3-A83C-C551BA0831ED}" type="presOf" srcId="{55A2A9EB-4C26-43C3-B721-D475B10BC39B}" destId="{39AFE128-ACF6-44CA-B18B-64F5782CF210}" srcOrd="0" destOrd="1" presId="urn:microsoft.com/office/officeart/2005/8/layout/vList4"/>
    <dgm:cxn modelId="{4DBA2473-D3C7-4F89-905B-245F092BC096}" type="presOf" srcId="{937F31D4-3340-4DC4-833F-4B23CBBA8E99}" destId="{CFFDF23F-D296-4CDF-8EE4-8A672559E207}" srcOrd="1" destOrd="2" presId="urn:microsoft.com/office/officeart/2005/8/layout/vList4"/>
    <dgm:cxn modelId="{DC02AD53-682D-464B-9D09-C1B6DCD5AFB0}" type="presOf" srcId="{55A2A9EB-4C26-43C3-B721-D475B10BC39B}" destId="{CFFDF23F-D296-4CDF-8EE4-8A672559E207}" srcOrd="1" destOrd="1" presId="urn:microsoft.com/office/officeart/2005/8/layout/vList4"/>
    <dgm:cxn modelId="{E9C63D77-4F6A-4AA1-86C5-098C64C8EE0C}" type="presOf" srcId="{BE62047B-8C2B-4B07-9C6F-D39FB3FAC29C}" destId="{54FC4CB6-0791-48D3-B2C5-2E99B8AFCFF7}" srcOrd="0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F7B000A6-8D1B-47AD-A7A9-06714CE1C8B0}" type="presOf" srcId="{937F31D4-3340-4DC4-833F-4B23CBBA8E99}" destId="{39AFE128-ACF6-44CA-B18B-64F5782CF210}" srcOrd="0" destOrd="2" presId="urn:microsoft.com/office/officeart/2005/8/layout/vList4"/>
    <dgm:cxn modelId="{1C3272C9-C630-4D60-B76B-138907BB4D41}" srcId="{78BFB295-8F5D-4286-B72B-79142F8F0E13}" destId="{2E221207-005F-49CB-81E1-6D036D64322B}" srcOrd="0" destOrd="0" parTransId="{B200B6AA-AA2A-4CB8-80FF-4BB54938E8A5}" sibTransId="{3728DB5E-E904-481D-A1E5-49CF4AFFC0D3}"/>
    <dgm:cxn modelId="{ECED70CB-7A25-48F8-9E03-51596FB1E92C}" srcId="{02A34BC0-F8BA-4A89-87A4-4F20079DFD06}" destId="{55A2A9EB-4C26-43C3-B721-D475B10BC39B}" srcOrd="0" destOrd="0" parTransId="{B8424EB2-FFE7-4867-9D5A-EE0D46E8AAFE}" sibTransId="{4EF4588A-187C-4393-9DFC-C6D80B20E995}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Cristian Lavín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Developer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Scrum Master</a:t>
          </a:r>
          <a:endParaRPr lang="es-CL" sz="3100" kern="1200" dirty="0"/>
        </a:p>
      </dsp:txBody>
      <dsp:txXfrm>
        <a:off x="1733817" y="0"/>
        <a:ext cx="5899676" cy="2071186"/>
      </dsp:txXfrm>
    </dsp:sp>
    <dsp:sp modelId="{9A7E2690-DE9C-4572-9BE5-B8C9A3B8BBB3}">
      <dsp:nvSpPr>
        <dsp:cNvPr id="0" name=""/>
        <dsp:cNvSpPr/>
      </dsp:nvSpPr>
      <dsp:spPr>
        <a:xfrm>
          <a:off x="110860" y="291010"/>
          <a:ext cx="1526698" cy="165694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l="-4000" r="-4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2278305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Martin Trujillo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Developer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Product</a:t>
          </a:r>
          <a:r>
            <a:rPr lang="es-MX" sz="3100" kern="1200" dirty="0"/>
            <a:t> </a:t>
          </a:r>
          <a:r>
            <a:rPr lang="es-MX" sz="3100" kern="1200" dirty="0" err="1"/>
            <a:t>Owner</a:t>
          </a:r>
          <a:endParaRPr lang="es-CL" sz="3100" kern="1200" dirty="0"/>
        </a:p>
      </dsp:txBody>
      <dsp:txXfrm>
        <a:off x="1733817" y="2278305"/>
        <a:ext cx="5899676" cy="2071186"/>
      </dsp:txXfrm>
    </dsp:sp>
    <dsp:sp modelId="{3F97C059-D720-4D48-953F-B84D04D0BF79}">
      <dsp:nvSpPr>
        <dsp:cNvPr id="0" name=""/>
        <dsp:cNvSpPr/>
      </dsp:nvSpPr>
      <dsp:spPr>
        <a:xfrm>
          <a:off x="207118" y="2485423"/>
          <a:ext cx="1526698" cy="165694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27-11-2025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9965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</a:t>
            </a:r>
            <a:r>
              <a:rPr lang="pt-BR" sz="4400" dirty="0"/>
              <a:t>Dulce Osadía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A320647-E61C-4062-BBE8-34550B133D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8396" y="3722636"/>
            <a:ext cx="4835207" cy="1655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2112596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47312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</a:t>
            </a:r>
          </a:p>
          <a:p>
            <a:pPr lvl="0" algn="ctr"/>
            <a:endParaRPr lang="es-MX" u="sng" dirty="0"/>
          </a:p>
          <a:p>
            <a:r>
              <a:rPr lang="es-MX" sz="1800" dirty="0"/>
              <a:t>Descripción: </a:t>
            </a:r>
            <a:r>
              <a:rPr lang="es-MX" b="1" dirty="0"/>
              <a:t>Falta de visibilidad de inventario:</a:t>
            </a:r>
            <a:r>
              <a:rPr lang="es-MX" dirty="0"/>
              <a:t> Carecen de datos en tiempo real sobre materias primas, provocando quiebres de stock, desperdicios por caducidad y demoras en cálculos manuales. </a:t>
            </a:r>
          </a:p>
          <a:p>
            <a:r>
              <a:rPr lang="es-MX" b="1" dirty="0"/>
              <a:t>Ausencia de canal digital:</a:t>
            </a:r>
            <a:r>
              <a:rPr lang="es-MX" dirty="0"/>
              <a:t> No contar con ventas en línea limita el alcance a clientes locales y dificulta el seguimiento de pedidos y cobros, generando sobrecarga administrativa.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47312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/>
            <a:r>
              <a:rPr lang="es-MX" dirty="0"/>
              <a:t>Descripción: </a:t>
            </a:r>
            <a:r>
              <a:rPr lang="es-MX" b="1" dirty="0"/>
              <a:t>Plataforma Centralizada:</a:t>
            </a:r>
            <a:r>
              <a:rPr lang="es-MX" dirty="0"/>
              <a:t> Implementación de un sistema web que centraliza el registro de insumos y automatiza el cálculo de rendimientos de recetas. </a:t>
            </a:r>
          </a:p>
          <a:p>
            <a:pPr lvl="0"/>
            <a:r>
              <a:rPr lang="es-MX" b="1" dirty="0"/>
              <a:t>E-commerce:</a:t>
            </a:r>
            <a:r>
              <a:rPr lang="es-MX" dirty="0"/>
              <a:t> Desarrollo de un portal de ventas con carrito de compras, gestión de pedidos e integración de pagos con tarjeta. </a:t>
            </a:r>
          </a:p>
          <a:p>
            <a:pPr lvl="0"/>
            <a:r>
              <a:rPr lang="es-MX" b="1" dirty="0"/>
              <a:t>Gestión Administrativa:</a:t>
            </a:r>
            <a:r>
              <a:rPr lang="es-MX" dirty="0"/>
              <a:t> Herramientas para optimizar el aprovisionamiento y la planificación de lotes de producción.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36257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dirty="0"/>
              <a:t>Descripción: Implementar una plataforma web integral que centralice el control de inventario, automatice recetas y ofrezca un canal de venta online para optimizar la gestión y ampliar el mercado de Dulce Osadía.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028548"/>
            <a:ext cx="10962967" cy="262190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/>
              <a:t>Desarrollar un módulo de inventario</a:t>
            </a:r>
            <a:r>
              <a:rPr lang="es-MX" dirty="0"/>
              <a:t>. </a:t>
            </a:r>
          </a:p>
          <a:p>
            <a:r>
              <a:rPr lang="es-MX" b="1" dirty="0"/>
              <a:t>Implementar un gestor de recetas.</a:t>
            </a:r>
          </a:p>
          <a:p>
            <a:r>
              <a:rPr lang="es-MX" b="1" dirty="0"/>
              <a:t>Construir un catálogo digital de productos</a:t>
            </a:r>
            <a:r>
              <a:rPr lang="es-MX" dirty="0"/>
              <a:t>.</a:t>
            </a:r>
          </a:p>
          <a:p>
            <a:r>
              <a:rPr lang="es-MX" b="1" dirty="0"/>
              <a:t>Crear un carrito de compras funcional</a:t>
            </a:r>
            <a:r>
              <a:rPr lang="es-MX" dirty="0"/>
              <a:t>. </a:t>
            </a:r>
          </a:p>
          <a:p>
            <a:r>
              <a:rPr lang="es-MX" b="1" dirty="0"/>
              <a:t>Implementar un flujo de pago integrado.</a:t>
            </a:r>
          </a:p>
          <a:p>
            <a:r>
              <a:rPr lang="es-CL" b="1" dirty="0"/>
              <a:t>Desarrollar un módulo de pedidos</a:t>
            </a:r>
            <a:r>
              <a:rPr lang="es-CL" dirty="0"/>
              <a:t>.</a:t>
            </a:r>
          </a:p>
          <a:p>
            <a:r>
              <a:rPr lang="es-MX" b="1" dirty="0"/>
              <a:t>Integrar notificaciones automáticas</a:t>
            </a:r>
            <a:r>
              <a:rPr lang="es-MX" dirty="0"/>
              <a:t>. </a:t>
            </a:r>
          </a:p>
          <a:p>
            <a:r>
              <a:rPr lang="es-MX" b="1" dirty="0"/>
              <a:t>Construir una base de datos en MySQL.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2274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97046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3D76530-8DA2-D8AC-9B94-FB7491B8D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498" y="1663489"/>
            <a:ext cx="9417130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s-MX" b="1" dirty="0"/>
              <a:t>Alcances</a:t>
            </a:r>
          </a:p>
          <a:p>
            <a:endParaRPr lang="es-MX" b="1" dirty="0"/>
          </a:p>
          <a:p>
            <a:r>
              <a:rPr lang="es-MX" b="1" dirty="0"/>
              <a:t>Gestión de usuarios</a:t>
            </a:r>
            <a:r>
              <a:rPr lang="es-MX" dirty="0"/>
              <a:t>: registro, inicio de sesión, recuperación de contraseña y activación por correo.</a:t>
            </a:r>
          </a:p>
          <a:p>
            <a:r>
              <a:rPr lang="es-MX" b="1" dirty="0"/>
              <a:t>Inventario</a:t>
            </a:r>
            <a:r>
              <a:rPr lang="es-MX" dirty="0"/>
              <a:t>: CRUD completo de insumos y alertas automáticas de stock mínimo.</a:t>
            </a:r>
          </a:p>
          <a:p>
            <a:r>
              <a:rPr lang="es-MX" b="1" dirty="0"/>
              <a:t>Recetas</a:t>
            </a:r>
            <a:r>
              <a:rPr lang="es-MX" dirty="0"/>
              <a:t>: creación, edición y cálculo automático de insumos por receta.</a:t>
            </a:r>
          </a:p>
          <a:p>
            <a:r>
              <a:rPr lang="es-MX" b="1" dirty="0"/>
              <a:t>Ventas</a:t>
            </a:r>
            <a:r>
              <a:rPr lang="es-MX" dirty="0"/>
              <a:t>: catálogo, carrito de compra y flujo de pago con Transbank.</a:t>
            </a:r>
          </a:p>
          <a:p>
            <a:r>
              <a:rPr lang="es-MX" b="1" dirty="0"/>
              <a:t>Pedidos</a:t>
            </a:r>
            <a:r>
              <a:rPr lang="es-MX" dirty="0"/>
              <a:t>: historial de transacciones y visualización del estado del pedido.</a:t>
            </a:r>
          </a:p>
          <a:p>
            <a:r>
              <a:rPr lang="es-MX" b="1" dirty="0"/>
              <a:t>Notificaciones</a:t>
            </a:r>
            <a:r>
              <a:rPr lang="es-MX" dirty="0"/>
              <a:t>: correos automáticos mediante </a:t>
            </a:r>
            <a:r>
              <a:rPr lang="es-MX" dirty="0" err="1"/>
              <a:t>PHPMailer</a:t>
            </a:r>
            <a:r>
              <a:rPr lang="es-MX" dirty="0"/>
              <a:t>.</a:t>
            </a:r>
          </a:p>
          <a:p>
            <a:r>
              <a:rPr lang="es-MX" b="1" dirty="0"/>
              <a:t>Interfaz de administración</a:t>
            </a:r>
            <a:r>
              <a:rPr lang="es-MX" dirty="0"/>
              <a:t>: panel para gestión de inventario, recetas y ventas.</a:t>
            </a:r>
          </a:p>
          <a:p>
            <a:endParaRPr lang="es-MX" dirty="0"/>
          </a:p>
          <a:p>
            <a:r>
              <a:rPr lang="es-MX" b="1" dirty="0"/>
              <a:t>Limitaciones</a:t>
            </a:r>
          </a:p>
          <a:p>
            <a:endParaRPr lang="es-MX" b="1" dirty="0"/>
          </a:p>
          <a:p>
            <a:r>
              <a:rPr lang="es-MX" dirty="0"/>
              <a:t>No incluye aplicación móvil.</a:t>
            </a:r>
          </a:p>
          <a:p>
            <a:r>
              <a:rPr lang="es-MX" dirty="0"/>
              <a:t>No incluye </a:t>
            </a:r>
            <a:r>
              <a:rPr lang="es-MX" dirty="0" err="1"/>
              <a:t>dashboards</a:t>
            </a:r>
            <a:r>
              <a:rPr lang="es-MX" dirty="0"/>
              <a:t> avanzados de analítica (solo métricas básicas).</a:t>
            </a:r>
          </a:p>
          <a:p>
            <a:r>
              <a:rPr lang="es-MX" dirty="0"/>
              <a:t>No integra múltiples métodos de pago (solo Transbank).</a:t>
            </a:r>
          </a:p>
          <a:p>
            <a:r>
              <a:rPr lang="es-MX" dirty="0"/>
              <a:t>No dispone de sistema </a:t>
            </a:r>
            <a:r>
              <a:rPr lang="es-MX" dirty="0" err="1"/>
              <a:t>multi-sucursal</a:t>
            </a:r>
            <a:r>
              <a:rPr lang="es-MX" dirty="0"/>
              <a:t>.</a:t>
            </a:r>
          </a:p>
          <a:p>
            <a:r>
              <a:rPr lang="es-MX" dirty="0"/>
              <a:t>No se implementa facturación electrónica.</a:t>
            </a: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256578F6-FE30-6A1D-D3AD-9EC19C06752B}"/>
              </a:ext>
            </a:extLst>
          </p:cNvPr>
          <p:cNvSpPr txBox="1"/>
          <p:nvPr/>
        </p:nvSpPr>
        <p:spPr>
          <a:xfrm>
            <a:off x="879411" y="2518739"/>
            <a:ext cx="616286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dirty="0"/>
              <a:t>Se utilizó la metodología ágil </a:t>
            </a:r>
            <a:r>
              <a:rPr lang="es-CL" b="1" dirty="0"/>
              <a:t>Scrum</a:t>
            </a:r>
            <a:r>
              <a:rPr lang="es-CL" dirty="0"/>
              <a:t>, con:</a:t>
            </a:r>
          </a:p>
          <a:p>
            <a:pPr>
              <a:buNone/>
            </a:pPr>
            <a:endParaRPr lang="es-CL" dirty="0"/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3 </a:t>
            </a:r>
            <a:r>
              <a:rPr lang="es-CL" b="1" dirty="0" err="1"/>
              <a:t>Sprints</a:t>
            </a:r>
            <a:r>
              <a:rPr lang="es-CL" b="1" dirty="0"/>
              <a:t> de 6 semanas</a:t>
            </a:r>
            <a:r>
              <a:rPr lang="es-CL" dirty="0"/>
              <a:t> cada uno.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</a:t>
            </a:r>
            <a:r>
              <a:rPr lang="es-CL" b="1" dirty="0" err="1"/>
              <a:t>Planning</a:t>
            </a:r>
            <a:r>
              <a:rPr lang="es-CL" dirty="0"/>
              <a:t> para definir metas.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Backlog</a:t>
            </a:r>
            <a:r>
              <a:rPr lang="es-CL" dirty="0"/>
              <a:t> con tareas priorizadas.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 err="1"/>
              <a:t>Daily</a:t>
            </a:r>
            <a:r>
              <a:rPr lang="es-CL" b="1" dirty="0"/>
              <a:t> Scrum semanal</a:t>
            </a:r>
            <a:r>
              <a:rPr lang="es-CL" dirty="0"/>
              <a:t>, para revisión de avances.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</a:t>
            </a:r>
            <a:r>
              <a:rPr lang="es-CL" b="1" dirty="0" err="1"/>
              <a:t>Review</a:t>
            </a:r>
            <a:r>
              <a:rPr lang="es-CL" dirty="0"/>
              <a:t>, mostrando incrementos funcionales.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Retrospective</a:t>
            </a:r>
            <a:r>
              <a:rPr lang="es-CL" dirty="0"/>
              <a:t>, para mejoras del proceso.</a:t>
            </a:r>
          </a:p>
          <a:p>
            <a:pPr>
              <a:buNone/>
            </a:pPr>
            <a:r>
              <a:rPr lang="es-CL" b="1" dirty="0"/>
              <a:t>Gestión de proyecto:</a:t>
            </a:r>
            <a:endParaRPr lang="es-CL" dirty="0"/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Trello para planificación de tareas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GitHub para control de versiones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XAMPP para ejecución local</a:t>
            </a:r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812927"/>
              </p:ext>
            </p:extLst>
          </p:nvPr>
        </p:nvGraphicFramePr>
        <p:xfrm>
          <a:off x="1248696" y="2052735"/>
          <a:ext cx="10235372" cy="4713618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71410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73596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30341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Sprint 1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Inventario, recetas, BD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113012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dirty="0"/>
                        <a:t>Sprint 2 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Catálogo, carrito, pedidos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67512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dirty="0"/>
                        <a:t>Sprint 3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Pagos, correos, documentación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871676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endParaRPr lang="es-MX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FE6B0C1-EECF-24D0-26BD-F227431D6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5100" y="1410759"/>
            <a:ext cx="9321799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s-CL" b="1" dirty="0"/>
              <a:t>Modelo: MVC (Modelo-Vista-Controlador)</a:t>
            </a:r>
          </a:p>
          <a:p>
            <a:endParaRPr lang="es-CL" b="1" dirty="0"/>
          </a:p>
          <a:p>
            <a:r>
              <a:rPr lang="es-CL" b="1" dirty="0" err="1"/>
              <a:t>Frontend</a:t>
            </a:r>
            <a:r>
              <a:rPr lang="es-CL" b="1" dirty="0"/>
              <a:t>: </a:t>
            </a:r>
            <a:r>
              <a:rPr lang="es-CL" dirty="0"/>
              <a:t>HTML5,CSS3,JavaScript, AJAX para comunicación asíncrona</a:t>
            </a:r>
          </a:p>
          <a:p>
            <a:endParaRPr lang="es-CL" dirty="0"/>
          </a:p>
          <a:p>
            <a:r>
              <a:rPr lang="es-CL" b="1" dirty="0"/>
              <a:t>Backend: </a:t>
            </a:r>
            <a:r>
              <a:rPr lang="es-CL" dirty="0"/>
              <a:t>PHP (arquitectura modular),Controladores con respuestas </a:t>
            </a:r>
            <a:r>
              <a:rPr lang="es-CL" dirty="0" err="1"/>
              <a:t>JSON,Validaciones</a:t>
            </a:r>
            <a:r>
              <a:rPr lang="es-CL" dirty="0"/>
              <a:t> en backend</a:t>
            </a:r>
          </a:p>
          <a:p>
            <a:endParaRPr lang="es-CL" dirty="0"/>
          </a:p>
          <a:p>
            <a:r>
              <a:rPr lang="es-CL" b="1" dirty="0"/>
              <a:t>Base de Datos: </a:t>
            </a:r>
            <a:r>
              <a:rPr lang="es-CL" dirty="0"/>
              <a:t>MySQL, Modelo relacional con 9 tablas </a:t>
            </a:r>
            <a:r>
              <a:rPr lang="es-CL" dirty="0" err="1"/>
              <a:t>principales,Uso</a:t>
            </a:r>
            <a:r>
              <a:rPr lang="es-CL" dirty="0"/>
              <a:t> de PDO para consultas seguras</a:t>
            </a:r>
          </a:p>
          <a:p>
            <a:endParaRPr lang="es-CL" dirty="0"/>
          </a:p>
          <a:p>
            <a:r>
              <a:rPr lang="es-CL" b="1" dirty="0"/>
              <a:t>Servidor: </a:t>
            </a:r>
            <a:r>
              <a:rPr lang="es-CL" dirty="0"/>
              <a:t>Apache 2.4 (XAMPP / </a:t>
            </a:r>
            <a:r>
              <a:rPr lang="es-CL" dirty="0" err="1"/>
              <a:t>Laragon</a:t>
            </a:r>
            <a:r>
              <a:rPr lang="es-CL" dirty="0"/>
              <a:t>)</a:t>
            </a:r>
          </a:p>
          <a:p>
            <a:endParaRPr lang="es-CL" dirty="0"/>
          </a:p>
          <a:p>
            <a:r>
              <a:rPr lang="es-CL" b="1" dirty="0"/>
              <a:t>Integraciones:</a:t>
            </a:r>
          </a:p>
          <a:p>
            <a:endParaRPr lang="es-CL" b="1" dirty="0"/>
          </a:p>
          <a:p>
            <a:r>
              <a:rPr lang="es-CL" b="1" dirty="0"/>
              <a:t>Transbank SDK</a:t>
            </a:r>
            <a:r>
              <a:rPr lang="es-CL" dirty="0"/>
              <a:t>: pagos Webpay</a:t>
            </a:r>
          </a:p>
          <a:p>
            <a:endParaRPr lang="es-CL" dirty="0"/>
          </a:p>
          <a:p>
            <a:r>
              <a:rPr lang="es-CL" b="1" dirty="0" err="1"/>
              <a:t>PHPMailer</a:t>
            </a:r>
            <a:r>
              <a:rPr lang="es-CL" dirty="0"/>
              <a:t>: envío de correos</a:t>
            </a:r>
          </a:p>
          <a:p>
            <a:endParaRPr lang="es-CL" dirty="0"/>
          </a:p>
          <a:p>
            <a:r>
              <a:rPr lang="es-CL" b="1" dirty="0"/>
              <a:t>PHP </a:t>
            </a:r>
            <a:r>
              <a:rPr lang="es-CL" b="1" dirty="0" err="1"/>
              <a:t>dotenv</a:t>
            </a:r>
            <a:r>
              <a:rPr lang="es-CL" dirty="0"/>
              <a:t>: variables de entorno</a:t>
            </a: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54280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9035CF5-0004-019C-E02F-AB60BC8D8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6393" y="2290984"/>
            <a:ext cx="6421794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Usuarios: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Gestión de cuentas y clientes.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Productos: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Catálogo de venta (Alfajores, Trufas,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Insumos: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Materias primas para el inventario.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Recetas: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Relación entre insumos y productos para cálculo de rendimiento.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Pedidos/Transacciones: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Registro de ventas y pagos.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7998180-8237-76CC-5639-2C22515AE0D7}"/>
              </a:ext>
            </a:extLst>
          </p:cNvPr>
          <p:cNvSpPr txBox="1"/>
          <p:nvPr/>
        </p:nvSpPr>
        <p:spPr>
          <a:xfrm>
            <a:off x="310244" y="2290984"/>
            <a:ext cx="52694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MX" b="1" dirty="0"/>
              <a:t>Tablas principales: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clientes</a:t>
            </a:r>
            <a:r>
              <a:rPr lang="es-MX" dirty="0"/>
              <a:t>: datos del comprador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usuarios</a:t>
            </a:r>
            <a:r>
              <a:rPr lang="es-MX" dirty="0"/>
              <a:t>: administración interna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productos</a:t>
            </a:r>
            <a:r>
              <a:rPr lang="es-MX" dirty="0"/>
              <a:t>: catálogo para venta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insumos</a:t>
            </a:r>
            <a:r>
              <a:rPr lang="es-MX" dirty="0"/>
              <a:t>: stock de materias primas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receta</a:t>
            </a:r>
            <a:r>
              <a:rPr lang="es-MX" dirty="0"/>
              <a:t>: definición del producto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 err="1"/>
              <a:t>detallereceta</a:t>
            </a:r>
            <a:r>
              <a:rPr lang="es-MX" dirty="0"/>
              <a:t>: insumos por receta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compra</a:t>
            </a:r>
            <a:r>
              <a:rPr lang="es-MX" dirty="0"/>
              <a:t>: registro de transacciones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 err="1"/>
              <a:t>detalle_compra</a:t>
            </a:r>
            <a:r>
              <a:rPr lang="es-MX" dirty="0"/>
              <a:t>: productos dentro de la compra</a:t>
            </a:r>
          </a:p>
          <a:p>
            <a:pPr>
              <a:buNone/>
            </a:pPr>
            <a:r>
              <a:rPr lang="es-MX" b="1" dirty="0"/>
              <a:t>Relaciones clave: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Cliente → Compra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Compra → Detalle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Producto → Detalle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Receta → </a:t>
            </a:r>
            <a:r>
              <a:rPr lang="es-MX" dirty="0" err="1"/>
              <a:t>DetalleReceta</a:t>
            </a:r>
            <a:r>
              <a:rPr lang="es-MX" dirty="0"/>
              <a:t> → Insumos (N:N)</a:t>
            </a:r>
          </a:p>
        </p:txBody>
      </p: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60FD5C-8685-586F-14D7-8E39BEBEC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861" y="2833228"/>
            <a:ext cx="993710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Optimización Interna: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Reducción de quiebres de stock y desperdicios gracias a la visibilidad de materias primas y gestión de recetas.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Expansión de Ventas: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Apertura de un nuevo canal digital que rompe la barrera local mediante catálogo y carrito web.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Automatización: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Disminución de la carga administrativa mediante pagos integrados y notificaciones automáticas.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Robustez Técnica: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Sistema seguro y escalable basado en tecnologías estándar (PHP, SQL).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0015B5-727E-5058-9C1E-B8199DDB3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241" y="2841086"/>
            <a:ext cx="11596317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Integración con Transbank: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configuración de certificados y respuesta del API provocó retrasos iniciales.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Normalización de la base de datos: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requirió rediseño para evitar duplicidad y mejorar integridad referencial.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Problemas con PHPMailer: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bloqueos por puertos SMTP y restricciones de servidor local.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 académica externa: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coordinación de tiempos entre ambos integrantes dificultó los sprints iniciales.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Gestión de sesiones: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mantener coherencia entre carrito, usuario y compra requería validación adicional.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1015</Words>
  <Application>Microsoft Office PowerPoint</Application>
  <PresentationFormat>Panorámica</PresentationFormat>
  <Paragraphs>207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MARTIN . TRUJILLO CASTRO</cp:lastModifiedBy>
  <cp:revision>21</cp:revision>
  <dcterms:created xsi:type="dcterms:W3CDTF">2023-10-28T21:12:11Z</dcterms:created>
  <dcterms:modified xsi:type="dcterms:W3CDTF">2025-11-28T04:42:50Z</dcterms:modified>
</cp:coreProperties>
</file>