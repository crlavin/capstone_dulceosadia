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4D5"/>
    <a:srgbClr val="FFF2CC"/>
    <a:srgbClr val="E2EFD9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 dirty="0"/>
            <a:t>Cristian Lavín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 err="1"/>
            <a:t>Product</a:t>
          </a:r>
          <a:r>
            <a:rPr lang="es-MX" dirty="0"/>
            <a:t> </a:t>
          </a:r>
          <a:r>
            <a:rPr lang="es-MX" dirty="0" err="1"/>
            <a:t>Owner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 dirty="0"/>
            <a:t>Martin Trujillo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 dirty="0" err="1"/>
            <a:t>Developer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 dirty="0"/>
            <a:t>Scrum Master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 dirty="0" err="1"/>
            <a:t>Developer</a:t>
          </a:r>
          <a:endParaRPr lang="es-CL" dirty="0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2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2"/>
      <dgm:spPr>
        <a:blipFill>
          <a:blip xmlns:r="http://schemas.openxmlformats.org/officeDocument/2006/relationships" r:embed="rId1"/>
          <a:srcRect/>
          <a:stretch>
            <a:fillRect l="-4000" r="-4000"/>
          </a:stretch>
        </a:blipFill>
      </dgm:spPr>
    </dgm:pt>
    <dgm:pt modelId="{52D125D2-FCA7-4A2D-AB39-B6BD54F251F2}" type="pres">
      <dgm:prSet presAssocID="{78BFB295-8F5D-4286-B72B-79142F8F0E13}" presName="text" presStyleLbl="node1" presStyleIdx="0" presStyleCnt="2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2"/>
      <dgm:spPr/>
    </dgm:pt>
    <dgm:pt modelId="{3F97C059-D720-4D48-953F-B84D04D0BF79}" type="pres">
      <dgm:prSet presAssocID="{02A34BC0-F8BA-4A89-87A4-4F20079DFD06}" presName="img" presStyleLbl="fgImgPlac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gm:spPr>
    </dgm:pt>
    <dgm:pt modelId="{CFFDF23F-D296-4CDF-8EE4-8A672559E207}" type="pres">
      <dgm:prSet presAssocID="{02A34BC0-F8BA-4A89-87A4-4F20079DFD06}" presName="text" presStyleLbl="node1" presStyleIdx="1" presStyleCnt="2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Cristian Lavín</a:t>
          </a:r>
          <a:endParaRPr lang="es-CL" sz="40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 err="1"/>
            <a:t>Product</a:t>
          </a:r>
          <a:r>
            <a:rPr lang="es-MX" sz="3100" kern="1200" dirty="0"/>
            <a:t> </a:t>
          </a:r>
          <a:r>
            <a:rPr lang="es-MX" sz="3100" kern="1200" dirty="0" err="1"/>
            <a:t>Owner</a:t>
          </a:r>
          <a:endParaRPr lang="es-CL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 err="1"/>
            <a:t>Developer</a:t>
          </a:r>
          <a:endParaRPr lang="es-CL" sz="3100" kern="1200" dirty="0"/>
        </a:p>
      </dsp:txBody>
      <dsp:txXfrm>
        <a:off x="1733817" y="0"/>
        <a:ext cx="5899676" cy="2071186"/>
      </dsp:txXfrm>
    </dsp:sp>
    <dsp:sp modelId="{9A7E2690-DE9C-4572-9BE5-B8C9A3B8BBB3}">
      <dsp:nvSpPr>
        <dsp:cNvPr id="0" name=""/>
        <dsp:cNvSpPr/>
      </dsp:nvSpPr>
      <dsp:spPr>
        <a:xfrm>
          <a:off x="207118" y="207118"/>
          <a:ext cx="1526698" cy="16569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l="-4000" r="-4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2278305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Martin Trujillo</a:t>
          </a:r>
          <a:endParaRPr lang="es-CL" sz="40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/>
            <a:t>Scrum Master</a:t>
          </a:r>
          <a:endParaRPr lang="es-CL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 err="1"/>
            <a:t>Developer</a:t>
          </a:r>
          <a:endParaRPr lang="es-CL" sz="3100" kern="1200" dirty="0"/>
        </a:p>
      </dsp:txBody>
      <dsp:txXfrm>
        <a:off x="1733817" y="2278305"/>
        <a:ext cx="5899676" cy="2071186"/>
      </dsp:txXfrm>
    </dsp:sp>
    <dsp:sp modelId="{3F97C059-D720-4D48-953F-B84D04D0BF79}">
      <dsp:nvSpPr>
        <dsp:cNvPr id="0" name=""/>
        <dsp:cNvSpPr/>
      </dsp:nvSpPr>
      <dsp:spPr>
        <a:xfrm>
          <a:off x="207118" y="2485423"/>
          <a:ext cx="1526698" cy="16569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9965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</a:t>
            </a:r>
            <a:r>
              <a:rPr lang="pt-BR" sz="4400" dirty="0"/>
              <a:t>Dulce Osadía</a:t>
            </a:r>
            <a:r>
              <a:rPr lang="es-MX" sz="4400" dirty="0"/>
              <a:t>”</a:t>
            </a:r>
          </a:p>
          <a:p>
            <a:pPr algn="ctr"/>
            <a:r>
              <a:rPr lang="es-MX" sz="2400" dirty="0"/>
              <a:t>PRESENTACIÓN FINAL CAPSTONE</a:t>
            </a:r>
            <a:endParaRPr lang="es-CL"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320647-E61C-4062-BBE8-34550B133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96" y="3722636"/>
            <a:ext cx="4835207" cy="165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7658374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473125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</a:t>
            </a:r>
          </a:p>
          <a:p>
            <a:pPr lvl="0" algn="ctr"/>
            <a:endParaRPr lang="es-MX" u="sng" dirty="0"/>
          </a:p>
          <a:p>
            <a:r>
              <a:rPr lang="es-MX" sz="1800" dirty="0"/>
              <a:t>Descripción: </a:t>
            </a:r>
            <a:r>
              <a:rPr lang="es-MX" b="1" dirty="0"/>
              <a:t>Falta de visibilidad de inventario:</a:t>
            </a:r>
            <a:r>
              <a:rPr lang="es-MX" dirty="0"/>
              <a:t> Carecen de datos en tiempo real sobre materias primas, provocando quiebres de stock, desperdicios por caducidad y demoras en cálculos manuales. </a:t>
            </a:r>
          </a:p>
          <a:p>
            <a:r>
              <a:rPr lang="es-MX" b="1" dirty="0"/>
              <a:t>Ausencia de canal digital:</a:t>
            </a:r>
            <a:r>
              <a:rPr lang="es-MX" dirty="0"/>
              <a:t> No contar con ventas en línea limita el alcance a clientes locales y dificulta el seguimiento de pedidos y cobros, generando sobrecarga administrativa.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473125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/>
            <a:r>
              <a:rPr lang="es-MX" dirty="0"/>
              <a:t>Descripción: </a:t>
            </a:r>
            <a:r>
              <a:rPr lang="es-MX" b="1" dirty="0"/>
              <a:t>Plataforma Centralizada:</a:t>
            </a:r>
            <a:r>
              <a:rPr lang="es-MX" dirty="0"/>
              <a:t> Implementación de un sistema web que centraliza el registro de insumos y automatiza el cálculo de rendimientos de recetas. </a:t>
            </a:r>
          </a:p>
          <a:p>
            <a:pPr lvl="0"/>
            <a:r>
              <a:rPr lang="es-MX" b="1" dirty="0"/>
              <a:t>E-commerce:</a:t>
            </a:r>
            <a:r>
              <a:rPr lang="es-MX" dirty="0"/>
              <a:t> Desarrollo de un portal de ventas con carrito de compras, gestión de pedidos e integración de pagos con tarjeta. </a:t>
            </a:r>
          </a:p>
          <a:p>
            <a:pPr lvl="0"/>
            <a:r>
              <a:rPr lang="es-MX" b="1" dirty="0"/>
              <a:t>Gestión Administrativa:</a:t>
            </a:r>
            <a:r>
              <a:rPr lang="es-MX" dirty="0"/>
              <a:t> Herramientas para optimizar el aprovisionamiento y la planificación de lotes de producción.</a:t>
            </a:r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362572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dirty="0"/>
              <a:t>Descripción: Implementar una plataforma web integral que centralice el control de inventario, automatice recetas y ofrezca un canal de venta online para optimizar la gestión y ampliar el mercado de Dulce Osadía.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6" y="4152123"/>
            <a:ext cx="10962967" cy="262190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dirty="0"/>
              <a:t>Descripción: </a:t>
            </a:r>
            <a:r>
              <a:rPr lang="es-MX" b="1" dirty="0"/>
              <a:t>Desarrollar un módulo de inventario</a:t>
            </a:r>
            <a:r>
              <a:rPr lang="es-MX" dirty="0"/>
              <a:t> que permita registrar insumos, controlar su disponibilidad y generar alertas de stock mínimo. </a:t>
            </a:r>
            <a:r>
              <a:rPr lang="es-MX" b="1" dirty="0"/>
              <a:t>Implementar un gestor de recetas</a:t>
            </a:r>
            <a:r>
              <a:rPr lang="es-MX" dirty="0"/>
              <a:t> que calcule automáticamente los insumos requeridos según el volumen de producción. </a:t>
            </a:r>
            <a:r>
              <a:rPr lang="es-MX" b="1" dirty="0"/>
              <a:t>Construir un catálogo digital de productos</a:t>
            </a:r>
            <a:r>
              <a:rPr lang="es-MX" dirty="0"/>
              <a:t> con descripciones, fotografías y precios. </a:t>
            </a:r>
            <a:r>
              <a:rPr lang="es-MX" b="1" dirty="0"/>
              <a:t>Crear un carrito de compras funcional</a:t>
            </a:r>
            <a:r>
              <a:rPr lang="es-MX" dirty="0"/>
              <a:t>, permitiendo agregar, modificar y eliminar productos. </a:t>
            </a:r>
            <a:r>
              <a:rPr lang="es-MX" b="1" dirty="0"/>
              <a:t>Implementar un flujo de pago integrado</a:t>
            </a:r>
            <a:r>
              <a:rPr lang="es-MX" dirty="0"/>
              <a:t> mediante Transbank SDK, asegurando transacciones seguras. </a:t>
            </a:r>
            <a:r>
              <a:rPr lang="es-CL" b="1" dirty="0"/>
              <a:t>Desarrollar un módulo de pedidos</a:t>
            </a:r>
            <a:r>
              <a:rPr lang="es-CL" dirty="0"/>
              <a:t>, permitiendo visualizar estados (pendiente, pagado, entregado).</a:t>
            </a:r>
          </a:p>
          <a:p>
            <a:r>
              <a:rPr lang="es-MX" b="1" dirty="0"/>
              <a:t>Integrar notificaciones automáticas</a:t>
            </a:r>
            <a:r>
              <a:rPr lang="es-MX" dirty="0"/>
              <a:t> mediante </a:t>
            </a:r>
            <a:r>
              <a:rPr lang="es-MX" dirty="0" err="1"/>
              <a:t>PHPMailer</a:t>
            </a:r>
            <a:r>
              <a:rPr lang="es-MX" dirty="0"/>
              <a:t> (confirmación de compra, recuperación de contraseña). </a:t>
            </a:r>
            <a:r>
              <a:rPr lang="es-MX" b="1" dirty="0"/>
              <a:t>Construir una base de datos en MySQL</a:t>
            </a:r>
            <a:r>
              <a:rPr lang="es-MX" dirty="0"/>
              <a:t>, completamente normalizada y vinculada a la lógica del sistema.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97046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3D76530-8DA2-D8AC-9B94-FB7491B8D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98" y="1663489"/>
            <a:ext cx="941713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Alcances</a:t>
            </a:r>
          </a:p>
          <a:p>
            <a:endParaRPr lang="es-MX" b="1" dirty="0"/>
          </a:p>
          <a:p>
            <a:r>
              <a:rPr lang="es-MX" b="1" dirty="0"/>
              <a:t>Gestión de usuarios</a:t>
            </a:r>
            <a:r>
              <a:rPr lang="es-MX" dirty="0"/>
              <a:t>: registro, inicio de sesión, recuperación de contraseña y activación por correo.</a:t>
            </a:r>
          </a:p>
          <a:p>
            <a:r>
              <a:rPr lang="es-MX" b="1" dirty="0"/>
              <a:t>Inventario</a:t>
            </a:r>
            <a:r>
              <a:rPr lang="es-MX" dirty="0"/>
              <a:t>: CRUD completo de insumos y alertas automáticas de stock mínimo.</a:t>
            </a:r>
          </a:p>
          <a:p>
            <a:r>
              <a:rPr lang="es-MX" b="1" dirty="0"/>
              <a:t>Recetas</a:t>
            </a:r>
            <a:r>
              <a:rPr lang="es-MX" dirty="0"/>
              <a:t>: creación, edición y cálculo automático de insumos por receta.</a:t>
            </a:r>
          </a:p>
          <a:p>
            <a:r>
              <a:rPr lang="es-MX" b="1" dirty="0"/>
              <a:t>Ventas</a:t>
            </a:r>
            <a:r>
              <a:rPr lang="es-MX" dirty="0"/>
              <a:t>: catálogo, carrito de compra y flujo de pago con Transbank.</a:t>
            </a:r>
          </a:p>
          <a:p>
            <a:r>
              <a:rPr lang="es-MX" b="1" dirty="0"/>
              <a:t>Pedidos</a:t>
            </a:r>
            <a:r>
              <a:rPr lang="es-MX" dirty="0"/>
              <a:t>: historial de transacciones y visualización del estado del pedido.</a:t>
            </a:r>
          </a:p>
          <a:p>
            <a:r>
              <a:rPr lang="es-MX" b="1" dirty="0"/>
              <a:t>Notificaciones</a:t>
            </a:r>
            <a:r>
              <a:rPr lang="es-MX" dirty="0"/>
              <a:t>: correos automáticos mediante </a:t>
            </a:r>
            <a:r>
              <a:rPr lang="es-MX" dirty="0" err="1"/>
              <a:t>PHPMailer</a:t>
            </a:r>
            <a:r>
              <a:rPr lang="es-MX" dirty="0"/>
              <a:t>.</a:t>
            </a:r>
          </a:p>
          <a:p>
            <a:r>
              <a:rPr lang="es-MX" b="1" dirty="0"/>
              <a:t>Interfaz de administración</a:t>
            </a:r>
            <a:r>
              <a:rPr lang="es-MX" dirty="0"/>
              <a:t>: panel para gestión de inventario, recetas y ventas.</a:t>
            </a:r>
          </a:p>
          <a:p>
            <a:endParaRPr lang="es-MX" dirty="0"/>
          </a:p>
          <a:p>
            <a:r>
              <a:rPr lang="es-MX" b="1" dirty="0"/>
              <a:t>Limitaciones</a:t>
            </a:r>
          </a:p>
          <a:p>
            <a:endParaRPr lang="es-MX" b="1" dirty="0"/>
          </a:p>
          <a:p>
            <a:r>
              <a:rPr lang="es-MX" dirty="0"/>
              <a:t>No incluye aplicación móvil.</a:t>
            </a:r>
          </a:p>
          <a:p>
            <a:r>
              <a:rPr lang="es-MX" dirty="0"/>
              <a:t>No incluye </a:t>
            </a:r>
            <a:r>
              <a:rPr lang="es-MX" dirty="0" err="1"/>
              <a:t>dashboards</a:t>
            </a:r>
            <a:r>
              <a:rPr lang="es-MX" dirty="0"/>
              <a:t> avanzados de analítica (solo métricas básicas).</a:t>
            </a:r>
          </a:p>
          <a:p>
            <a:r>
              <a:rPr lang="es-MX" dirty="0"/>
              <a:t>No integra múltiples métodos de pago (solo Transbank).</a:t>
            </a:r>
          </a:p>
          <a:p>
            <a:r>
              <a:rPr lang="es-MX" dirty="0"/>
              <a:t>No dispone de sistema </a:t>
            </a:r>
            <a:r>
              <a:rPr lang="es-MX" dirty="0" err="1"/>
              <a:t>multi-sucursal</a:t>
            </a:r>
            <a:r>
              <a:rPr lang="es-MX" dirty="0"/>
              <a:t>.</a:t>
            </a:r>
          </a:p>
          <a:p>
            <a:r>
              <a:rPr lang="es-MX" dirty="0"/>
              <a:t>No se implementa facturación electrónica.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256578F6-FE30-6A1D-D3AD-9EC19C06752B}"/>
              </a:ext>
            </a:extLst>
          </p:cNvPr>
          <p:cNvSpPr txBox="1"/>
          <p:nvPr/>
        </p:nvSpPr>
        <p:spPr>
          <a:xfrm>
            <a:off x="879411" y="2518739"/>
            <a:ext cx="61628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dirty="0"/>
              <a:t>Se utilizó la metodología ágil </a:t>
            </a:r>
            <a:r>
              <a:rPr lang="es-CL" b="1" dirty="0"/>
              <a:t>Scrum</a:t>
            </a:r>
            <a:r>
              <a:rPr lang="es-CL" dirty="0"/>
              <a:t>, con:</a:t>
            </a:r>
          </a:p>
          <a:p>
            <a:pPr>
              <a:buNone/>
            </a:pPr>
            <a:endParaRPr lang="es-CL" dirty="0"/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/>
              <a:t>3 </a:t>
            </a:r>
            <a:r>
              <a:rPr lang="es-CL" b="1" dirty="0" err="1"/>
              <a:t>Sprints</a:t>
            </a:r>
            <a:r>
              <a:rPr lang="es-CL" b="1" dirty="0"/>
              <a:t> de 6 semanas</a:t>
            </a:r>
            <a:r>
              <a:rPr lang="es-CL" dirty="0"/>
              <a:t> cada uno.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/>
              <a:t>Sprint </a:t>
            </a:r>
            <a:r>
              <a:rPr lang="es-CL" b="1" dirty="0" err="1"/>
              <a:t>Planning</a:t>
            </a:r>
            <a:r>
              <a:rPr lang="es-CL" dirty="0"/>
              <a:t> para definir metas.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/>
              <a:t>Sprint Backlog</a:t>
            </a:r>
            <a:r>
              <a:rPr lang="es-CL" dirty="0"/>
              <a:t> con tareas priorizadas.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 err="1"/>
              <a:t>Daily</a:t>
            </a:r>
            <a:r>
              <a:rPr lang="es-CL" b="1" dirty="0"/>
              <a:t> Scrum semanal</a:t>
            </a:r>
            <a:r>
              <a:rPr lang="es-CL" dirty="0"/>
              <a:t>, para revisión de avances.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/>
              <a:t>Sprint </a:t>
            </a:r>
            <a:r>
              <a:rPr lang="es-CL" b="1" dirty="0" err="1"/>
              <a:t>Review</a:t>
            </a:r>
            <a:r>
              <a:rPr lang="es-CL" dirty="0"/>
              <a:t>, mostrando incrementos funcionales.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/>
              <a:t>Sprint Retrospective</a:t>
            </a:r>
            <a:r>
              <a:rPr lang="es-CL" dirty="0"/>
              <a:t>, para mejoras del proceso.</a:t>
            </a:r>
          </a:p>
          <a:p>
            <a:pPr>
              <a:buNone/>
            </a:pPr>
            <a:r>
              <a:rPr lang="es-CL" b="1" dirty="0"/>
              <a:t>Gestión de proyecto:</a:t>
            </a:r>
            <a:endParaRPr lang="es-CL" dirty="0"/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Trello para planificación de tareas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GitHub para control de versiones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XAMPP para ejecución local</a:t>
            </a:r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  <a:p>
            <a:pPr algn="ctr"/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BB5CADE-DDA2-A4F7-629E-7AEEB49F5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812927"/>
              </p:ext>
            </p:extLst>
          </p:nvPr>
        </p:nvGraphicFramePr>
        <p:xfrm>
          <a:off x="1248696" y="2052735"/>
          <a:ext cx="10235372" cy="4713618"/>
        </p:xfrm>
        <a:graphic>
          <a:graphicData uri="http://schemas.openxmlformats.org/drawingml/2006/table">
            <a:tbl>
              <a:tblPr firstRow="1" firstCol="1" bandRow="1"/>
              <a:tblGrid>
                <a:gridCol w="1245540">
                  <a:extLst>
                    <a:ext uri="{9D8B030D-6E8A-4147-A177-3AD203B41FA5}">
                      <a16:colId xmlns:a16="http://schemas.microsoft.com/office/drawing/2014/main" val="1385875515"/>
                    </a:ext>
                  </a:extLst>
                </a:gridCol>
                <a:gridCol w="494161">
                  <a:extLst>
                    <a:ext uri="{9D8B030D-6E8A-4147-A177-3AD203B41FA5}">
                      <a16:colId xmlns:a16="http://schemas.microsoft.com/office/drawing/2014/main" val="3026825544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982458150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2813336322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66681020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41682826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85303461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66676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597728732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367593723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056193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07868546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033199576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24485229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66135751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629908258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147780406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236880654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86726502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959863927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366369285"/>
                    </a:ext>
                  </a:extLst>
                </a:gridCol>
              </a:tblGrid>
              <a:tr h="714106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1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2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283734"/>
                  </a:ext>
                </a:extLst>
              </a:tr>
              <a:tr h="735964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9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16602"/>
                  </a:ext>
                </a:extLst>
              </a:tr>
              <a:tr h="130341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/>
                        <a:t>Sprint 1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/>
                        <a:t>Inventario, recetas, BD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18220"/>
                  </a:ext>
                </a:extLst>
              </a:tr>
              <a:tr h="11301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s-CL" sz="1100" dirty="0"/>
                        <a:t>Sprint 2 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/>
                        <a:t>Catálogo, carrito, pedidos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361947"/>
                  </a:ext>
                </a:extLst>
              </a:tr>
              <a:tr h="67512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s-CL" sz="1100" dirty="0"/>
                        <a:t>Sprint 3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/>
                        <a:t>Pagos, correos, documentación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495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871676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  <a:p>
            <a:pPr algn="ctr"/>
            <a:endParaRPr lang="es-MX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FE6B0C1-EECF-24D0-26BD-F227431D6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42" y="1634150"/>
            <a:ext cx="874378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CL" b="1" dirty="0"/>
              <a:t>Frontend: </a:t>
            </a:r>
            <a:r>
              <a:rPr lang="es-CL" dirty="0"/>
              <a:t>HTML5,CSS3,JavaScript, AJAX para comunicación asíncrona</a:t>
            </a:r>
          </a:p>
          <a:p>
            <a:endParaRPr lang="es-CL" dirty="0"/>
          </a:p>
          <a:p>
            <a:r>
              <a:rPr lang="es-CL" b="1" dirty="0"/>
              <a:t>Backend: </a:t>
            </a:r>
            <a:r>
              <a:rPr lang="es-CL" dirty="0"/>
              <a:t>PHP (arquitectura modular),Controladores con respuestas </a:t>
            </a:r>
            <a:r>
              <a:rPr lang="es-CL" dirty="0" err="1"/>
              <a:t>JSON,Validaciones</a:t>
            </a:r>
            <a:r>
              <a:rPr lang="es-CL" dirty="0"/>
              <a:t> en backend</a:t>
            </a:r>
          </a:p>
          <a:p>
            <a:endParaRPr lang="es-CL" dirty="0"/>
          </a:p>
          <a:p>
            <a:r>
              <a:rPr lang="es-CL" b="1" dirty="0"/>
              <a:t>Base de Datos: </a:t>
            </a:r>
            <a:r>
              <a:rPr lang="es-CL" dirty="0"/>
              <a:t>MySQL, Modelo relacional con 9 tablas </a:t>
            </a:r>
            <a:r>
              <a:rPr lang="es-CL" dirty="0" err="1"/>
              <a:t>principales,Uso</a:t>
            </a:r>
            <a:r>
              <a:rPr lang="es-CL" dirty="0"/>
              <a:t> de PDO para consultas seguras</a:t>
            </a:r>
          </a:p>
          <a:p>
            <a:endParaRPr lang="es-CL" dirty="0"/>
          </a:p>
          <a:p>
            <a:r>
              <a:rPr lang="es-CL" b="1" dirty="0"/>
              <a:t>Servidor: </a:t>
            </a:r>
            <a:r>
              <a:rPr lang="es-CL" dirty="0"/>
              <a:t>Apache 2.4 (XAMPP / </a:t>
            </a:r>
            <a:r>
              <a:rPr lang="es-CL" dirty="0" err="1"/>
              <a:t>Laragon</a:t>
            </a:r>
            <a:r>
              <a:rPr lang="es-CL" dirty="0"/>
              <a:t>)</a:t>
            </a:r>
          </a:p>
          <a:p>
            <a:endParaRPr lang="es-CL" dirty="0"/>
          </a:p>
          <a:p>
            <a:r>
              <a:rPr lang="es-CL" b="1" dirty="0"/>
              <a:t>Integraciones:</a:t>
            </a:r>
          </a:p>
          <a:p>
            <a:endParaRPr lang="es-CL" b="1" dirty="0"/>
          </a:p>
          <a:p>
            <a:r>
              <a:rPr lang="es-CL" b="1" dirty="0"/>
              <a:t>Transbank SDK</a:t>
            </a:r>
            <a:r>
              <a:rPr lang="es-CL" dirty="0"/>
              <a:t>: pagos Webpay</a:t>
            </a:r>
          </a:p>
          <a:p>
            <a:endParaRPr lang="es-CL" dirty="0"/>
          </a:p>
          <a:p>
            <a:r>
              <a:rPr lang="es-CL" b="1" dirty="0" err="1"/>
              <a:t>PHPMailer</a:t>
            </a:r>
            <a:r>
              <a:rPr lang="es-CL" dirty="0"/>
              <a:t>: envío de correos</a:t>
            </a:r>
          </a:p>
          <a:p>
            <a:endParaRPr lang="es-CL" dirty="0"/>
          </a:p>
          <a:p>
            <a:r>
              <a:rPr lang="es-CL" b="1" dirty="0"/>
              <a:t>PHP </a:t>
            </a:r>
            <a:r>
              <a:rPr lang="es-CL" b="1" dirty="0" err="1"/>
              <a:t>dotenv</a:t>
            </a:r>
            <a:r>
              <a:rPr lang="es-CL" dirty="0"/>
              <a:t>: variables de entorno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5428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9035CF5-0004-019C-E02F-AB60BC8D8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6393" y="2290984"/>
            <a:ext cx="642179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Usuarios: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Gestión de cuentas y clientes.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Productos: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Catálogo de venta (Alfajores, Trufas,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Insumos: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Materias primas para el inventario.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Recetas: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Relación entre insumos y productos para cálculo de rendimiento.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Pedidos/Transacciones: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Registro de ventas y pagos.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7998180-8237-76CC-5639-2C22515AE0D7}"/>
              </a:ext>
            </a:extLst>
          </p:cNvPr>
          <p:cNvSpPr txBox="1"/>
          <p:nvPr/>
        </p:nvSpPr>
        <p:spPr>
          <a:xfrm>
            <a:off x="310244" y="2290984"/>
            <a:ext cx="52694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Tablas principales: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clientes</a:t>
            </a:r>
            <a:r>
              <a:rPr lang="es-MX" dirty="0"/>
              <a:t>: datos del comprador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usuarios</a:t>
            </a:r>
            <a:r>
              <a:rPr lang="es-MX" dirty="0"/>
              <a:t>: administración interna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productos</a:t>
            </a:r>
            <a:r>
              <a:rPr lang="es-MX" dirty="0"/>
              <a:t>: catálogo para venta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insumos</a:t>
            </a:r>
            <a:r>
              <a:rPr lang="es-MX" dirty="0"/>
              <a:t>: stock de materias primas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receta</a:t>
            </a:r>
            <a:r>
              <a:rPr lang="es-MX" dirty="0"/>
              <a:t>: definición del producto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 err="1"/>
              <a:t>detallereceta</a:t>
            </a:r>
            <a:r>
              <a:rPr lang="es-MX" dirty="0"/>
              <a:t>: insumos por receta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compra</a:t>
            </a:r>
            <a:r>
              <a:rPr lang="es-MX" dirty="0"/>
              <a:t>: registro de transacciones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 err="1"/>
              <a:t>detalle_compra</a:t>
            </a:r>
            <a:r>
              <a:rPr lang="es-MX" dirty="0"/>
              <a:t>: productos dentro de la compra</a:t>
            </a:r>
          </a:p>
          <a:p>
            <a:pPr>
              <a:buNone/>
            </a:pPr>
            <a:r>
              <a:rPr lang="es-MX" b="1" dirty="0"/>
              <a:t>Relaciones clave: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Cliente → Compra (1:N)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Compra → Detalle (1:N)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Producto → Detalle (1:N)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Receta → </a:t>
            </a:r>
            <a:r>
              <a:rPr lang="es-MX" dirty="0" err="1"/>
              <a:t>DetalleReceta</a:t>
            </a:r>
            <a:r>
              <a:rPr lang="es-MX" dirty="0"/>
              <a:t> → Insumos (N:N)</a:t>
            </a:r>
          </a:p>
        </p:txBody>
      </p: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ACA3FF3-0DD4-FAFF-D094-CABF94486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39908"/>
            <a:ext cx="630749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Lenguajes: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PHP, HTML, CSS, JavaScript, 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Gestión de Dependencias: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Composer.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Librerías Clave:</a:t>
            </a:r>
            <a:endParaRPr kumimoji="0" lang="es-CL" altLang="es-C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Transbank SDK: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pasarela de pagos segura.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PHPMailer: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envío de correos electrónicos.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phpdotenv: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gestión segura de variables de entorno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60FD5C-8685-586F-14D7-8E39BEBEC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861" y="2833228"/>
            <a:ext cx="993710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Optimización Interna: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Reducción de quiebres de stock y desperdicios gracias a la visibilidad de materias primas y gestión de recetas.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Expansión de Ventas: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Apertura de un nuevo canal digital que rompe la barrera local mediante catálogo y carrito web.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Automatización: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Disminución de la carga administrativa mediante pagos integrados y notificaciones automáticas.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Robustez Técnica: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Sistema seguro y escalable basado en tecnologías estándar (PHP, SQL).</a:t>
            </a: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0015B5-727E-5058-9C1E-B8199DDB3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41" y="2841086"/>
            <a:ext cx="1159631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Integración con Transbank: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configuración de certificados y respuesta del API provocó retrasos iniciales.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Normalización de la base de datos: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requirió rediseño para evitar duplicidad y mejorar integridad referencial.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Problemas con PHPMailer: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bloqueos por puertos SMTP y restricciones de servidor local.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Carga académica externa: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coordinación de tiempos entre ambos integrantes dificultó los sprints iniciales.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Gestión de sesiones: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mantener coherencia entre carrito, usuario y compra requería validación adicional.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1141</Words>
  <Application>Microsoft Office PowerPoint</Application>
  <PresentationFormat>Panorámica</PresentationFormat>
  <Paragraphs>207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CRISTIAN LAVIN</cp:lastModifiedBy>
  <cp:revision>15</cp:revision>
  <dcterms:created xsi:type="dcterms:W3CDTF">2023-10-28T21:12:11Z</dcterms:created>
  <dcterms:modified xsi:type="dcterms:W3CDTF">2025-11-21T11:54:57Z</dcterms:modified>
</cp:coreProperties>
</file>