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Montserrat Bold" panose="020B0604020202020204" charset="0"/>
      <p:regular r:id="rId19"/>
    </p:embeddedFont>
    <p:embeddedFont>
      <p:font typeface="Montserrat Extra-Light" panose="020B0604020202020204" charset="0"/>
      <p:regular r:id="rId20"/>
    </p:embeddedFont>
    <p:embeddedFont>
      <p:font typeface="Montserrat Ultra-Bold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604020202020204" charset="0"/>
      <p:regular r:id="rId23"/>
    </p:embeddedFont>
    <p:embeddedFont>
      <p:font typeface="TAN Headline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79165" y="8737260"/>
            <a:ext cx="11933240" cy="521040"/>
            <a:chOff x="0" y="0"/>
            <a:chExt cx="3572814" cy="155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72814" cy="155999"/>
            </a:xfrm>
            <a:custGeom>
              <a:avLst/>
              <a:gdLst/>
              <a:ahLst/>
              <a:cxnLst/>
              <a:rect l="l" t="t" r="r" b="b"/>
              <a:pathLst>
                <a:path w="3572814" h="155999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994140" y="1453001"/>
            <a:ext cx="9397013" cy="7544778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10976" r="-1097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173699" y="4913785"/>
            <a:ext cx="2064008" cy="4083995"/>
            <a:chOff x="0" y="0"/>
            <a:chExt cx="2620010" cy="5184140"/>
          </a:xfrm>
        </p:grpSpPr>
        <p:sp>
          <p:nvSpPr>
            <p:cNvPr id="11" name="Freeform 1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631" r="-4631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3731737"/>
            <a:ext cx="8126721" cy="29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42"/>
              </a:lnSpc>
            </a:pPr>
            <a:r>
              <a:rPr lang="en-US" sz="9697" spc="-5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DULCE OSADÍA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918204"/>
            <a:ext cx="8567927" cy="58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2519" b="1" spc="50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PRESENTACIÓN FINAL CAPSTONE</a:t>
            </a:r>
          </a:p>
          <a:p>
            <a:pPr algn="l">
              <a:lnSpc>
                <a:spcPts val="2292"/>
              </a:lnSpc>
            </a:pPr>
            <a:endParaRPr lang="en-US" sz="2519" b="1" spc="508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2662411"/>
            <a:ext cx="8864398" cy="70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1"/>
              </a:lnSpc>
            </a:pPr>
            <a:r>
              <a:rPr lang="en-US" sz="5038" spc="1299">
                <a:solidFill>
                  <a:srgbClr val="000000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PROYECTO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255469" y="308004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10"/>
                </a:lnTo>
                <a:lnTo>
                  <a:pt x="0" y="92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728758" y="914037"/>
            <a:ext cx="3435860" cy="3991473"/>
            <a:chOff x="0" y="0"/>
            <a:chExt cx="546608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3"/>
              <a:stretch>
                <a:fillRect t="-6440" b="-6440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20875" y="5271872"/>
            <a:ext cx="3435860" cy="3991473"/>
            <a:chOff x="0" y="0"/>
            <a:chExt cx="546608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t="-6440" b="-6440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33080" y="1028700"/>
            <a:ext cx="8258256" cy="3210426"/>
            <a:chOff x="0" y="0"/>
            <a:chExt cx="1045393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5393" cy="406400"/>
            </a:xfrm>
            <a:custGeom>
              <a:avLst/>
              <a:gdLst/>
              <a:ahLst/>
              <a:cxnLst/>
              <a:rect l="l" t="t" r="r" b="b"/>
              <a:pathLst>
                <a:path w="1045393" h="406400">
                  <a:moveTo>
                    <a:pt x="842193" y="0"/>
                  </a:moveTo>
                  <a:cubicBezTo>
                    <a:pt x="954417" y="0"/>
                    <a:pt x="1045393" y="90976"/>
                    <a:pt x="1045393" y="203200"/>
                  </a:cubicBezTo>
                  <a:cubicBezTo>
                    <a:pt x="1045393" y="315424"/>
                    <a:pt x="954417" y="406400"/>
                    <a:pt x="8421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45393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33080" y="5455638"/>
            <a:ext cx="8258256" cy="3150861"/>
            <a:chOff x="0" y="0"/>
            <a:chExt cx="1065155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5155" cy="406400"/>
            </a:xfrm>
            <a:custGeom>
              <a:avLst/>
              <a:gdLst/>
              <a:ahLst/>
              <a:cxnLst/>
              <a:rect l="l" t="t" r="r" b="b"/>
              <a:pathLst>
                <a:path w="1065155" h="406400">
                  <a:moveTo>
                    <a:pt x="861955" y="0"/>
                  </a:moveTo>
                  <a:cubicBezTo>
                    <a:pt x="974179" y="0"/>
                    <a:pt x="1065155" y="90976"/>
                    <a:pt x="1065155" y="203200"/>
                  </a:cubicBezTo>
                  <a:cubicBezTo>
                    <a:pt x="1065155" y="315424"/>
                    <a:pt x="974179" y="406400"/>
                    <a:pt x="8619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065155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576770" y="172770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3" name="TextBox 23"/>
          <p:cNvSpPr txBox="1"/>
          <p:nvPr/>
        </p:nvSpPr>
        <p:spPr>
          <a:xfrm>
            <a:off x="8263834" y="5689635"/>
            <a:ext cx="5396746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Cristian Lavín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2568" y="1367807"/>
            <a:ext cx="5659279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Martin Trujillo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58762" y="6675155"/>
            <a:ext cx="4261838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91367" y="2336656"/>
            <a:ext cx="5462633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9" lvl="1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Developer</a:t>
            </a:r>
          </a:p>
          <a:p>
            <a:pPr marL="824229" lvl="1" indent="-457200" algn="ctr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Product Owner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576770" y="172770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3320672" y="637574"/>
            <a:ext cx="11646657" cy="1543050"/>
            <a:chOff x="0" y="0"/>
            <a:chExt cx="3067432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67432" cy="406400"/>
            </a:xfrm>
            <a:custGeom>
              <a:avLst/>
              <a:gdLst/>
              <a:ahLst/>
              <a:cxnLst/>
              <a:rect l="l" t="t" r="r" b="b"/>
              <a:pathLst>
                <a:path w="3067432" h="406400">
                  <a:moveTo>
                    <a:pt x="2864232" y="0"/>
                  </a:moveTo>
                  <a:cubicBezTo>
                    <a:pt x="2976456" y="0"/>
                    <a:pt x="3067432" y="90976"/>
                    <a:pt x="3067432" y="203200"/>
                  </a:cubicBezTo>
                  <a:cubicBezTo>
                    <a:pt x="3067432" y="315424"/>
                    <a:pt x="2976456" y="406400"/>
                    <a:pt x="286423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3067432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4417"/>
                </p14:media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2575905" y="2313974"/>
            <a:ext cx="13136190" cy="738908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13935" y="846154"/>
            <a:ext cx="8660130" cy="621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Video Marketing Dulce Osadia.cl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084672"/>
            <a:ext cx="16903280" cy="7537762"/>
            <a:chOff x="0" y="0"/>
            <a:chExt cx="4451893" cy="19852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1985254"/>
            </a:xfrm>
            <a:custGeom>
              <a:avLst/>
              <a:gdLst/>
              <a:ahLst/>
              <a:cxnLst/>
              <a:rect l="l" t="t" r="r" b="b"/>
              <a:pathLst>
                <a:path w="4451893" h="1985254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61896"/>
                  </a:lnTo>
                  <a:cubicBezTo>
                    <a:pt x="4451893" y="1968091"/>
                    <a:pt x="4449432" y="1974032"/>
                    <a:pt x="4445051" y="1978413"/>
                  </a:cubicBezTo>
                  <a:cubicBezTo>
                    <a:pt x="4440670" y="1982793"/>
                    <a:pt x="4434729" y="1985254"/>
                    <a:pt x="4428534" y="1985254"/>
                  </a:cubicBezTo>
                  <a:lnTo>
                    <a:pt x="23359" y="1985254"/>
                  </a:lnTo>
                  <a:cubicBezTo>
                    <a:pt x="10458" y="1985254"/>
                    <a:pt x="0" y="1974796"/>
                    <a:pt x="0" y="1961896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1994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55208" y="431050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504617" y="424402"/>
            <a:ext cx="9278765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Descripcion del proyecto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4494" y="2591607"/>
            <a:ext cx="4282855" cy="65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6"/>
              </a:lnSpc>
            </a:pPr>
            <a:r>
              <a:rPr lang="en-US" sz="2899" b="1" spc="2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865626"/>
            <a:ext cx="5931910" cy="503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61" b="1" spc="2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Descripción: Falta de visibilidad de inventario.</a:t>
            </a:r>
          </a:p>
          <a:p>
            <a:pPr algn="l">
              <a:lnSpc>
                <a:spcPts val="3304"/>
              </a:lnSpc>
            </a:pPr>
            <a:endParaRPr lang="en-US" sz="2561" b="1" spc="22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4"/>
              </a:lnSpc>
            </a:pPr>
            <a:r>
              <a:rPr lang="en-US" sz="2561" b="1" spc="2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>
              <a:lnSpc>
                <a:spcPts val="3433"/>
              </a:lnSpc>
            </a:pPr>
            <a:r>
              <a:rPr lang="en-US" sz="2661" b="1" spc="2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Ausencia de canal digital: No contar con ventas en línea limita el alcance a clientes locales y dificulta el seguimiento de pedidos y cobros, generando sobrecarga administrativa.</a:t>
            </a:r>
          </a:p>
          <a:p>
            <a:pPr algn="l">
              <a:lnSpc>
                <a:spcPts val="2788"/>
              </a:lnSpc>
            </a:pPr>
            <a:endParaRPr lang="en-US" sz="2661" b="1" spc="228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235907" y="3722841"/>
            <a:ext cx="6023393" cy="479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Plataforma Centralizada: Implementación de un sistema web que centraliza el registro de insumos y automatiza el cálculo de rendimientos de recetas. </a:t>
            </a:r>
          </a:p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E-commerce: Desarrollo de un portal de ventas con carrito de compras, gestión de pedidos e integración de pagos con tarjeta. </a:t>
            </a:r>
          </a:p>
          <a:p>
            <a:pPr algn="l">
              <a:lnSpc>
                <a:spcPts val="2771"/>
              </a:lnSpc>
            </a:pPr>
            <a:r>
              <a:rPr lang="en-US" sz="2148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Administrativa: Herramientas para optimizar el aprovisionamiento y la planificación de lotes de producción.</a:t>
            </a:r>
          </a:p>
          <a:p>
            <a:pPr algn="l">
              <a:lnSpc>
                <a:spcPts val="2771"/>
              </a:lnSpc>
            </a:pPr>
            <a:endParaRPr lang="en-US" sz="2148" b="1" spc="184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95691" y="2591607"/>
            <a:ext cx="5503825" cy="65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6"/>
              </a:lnSpc>
              <a:spcBef>
                <a:spcPct val="0"/>
              </a:spcBef>
            </a:pPr>
            <a:r>
              <a:rPr lang="en-US" sz="2899" b="1" spc="249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Propuesta de solución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3435985"/>
            <a:ext cx="16903280" cy="3694251"/>
            <a:chOff x="0" y="0"/>
            <a:chExt cx="4451893" cy="9729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84460" y="1102379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5091454" y="1196169"/>
            <a:ext cx="8105092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Objetivos Específicos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7297" y="3904727"/>
            <a:ext cx="5368940" cy="273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 módulo de inventario. 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Implementar un gestor de recetas.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 un catálogo digital de productos.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Crear un carrito de compras funcional.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2076" y="3733277"/>
            <a:ext cx="5368940" cy="30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Implementar un flujo de pago integrado.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 módulo de pedidos.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Integrar notificaciones automáticas. </a:t>
            </a:r>
          </a:p>
          <a:p>
            <a:pPr marL="463446" lvl="1" indent="-231723" algn="l">
              <a:lnSpc>
                <a:spcPts val="2769"/>
              </a:lnSpc>
              <a:buFont typeface="Arial"/>
              <a:buChar char="•"/>
            </a:pPr>
            <a:r>
              <a:rPr lang="en-US" sz="2146" b="1" spc="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 una base de datos en MySQL.</a:t>
            </a:r>
          </a:p>
          <a:p>
            <a:pPr algn="l">
              <a:lnSpc>
                <a:spcPts val="2769"/>
              </a:lnSpc>
            </a:pPr>
            <a:endParaRPr lang="en-US" sz="2146" b="1" spc="184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084672"/>
            <a:ext cx="16903280" cy="3694251"/>
            <a:chOff x="0" y="0"/>
            <a:chExt cx="4451893" cy="9729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360" y="6502823"/>
            <a:ext cx="16903280" cy="3694251"/>
            <a:chOff x="0" y="0"/>
            <a:chExt cx="4451893" cy="9729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51893" cy="972971"/>
            </a:xfrm>
            <a:custGeom>
              <a:avLst/>
              <a:gdLst/>
              <a:ahLst/>
              <a:cxnLst/>
              <a:rect l="l" t="t" r="r" b="b"/>
              <a:pathLst>
                <a:path w="4451893" h="972971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949613"/>
                  </a:lnTo>
                  <a:cubicBezTo>
                    <a:pt x="4451893" y="955808"/>
                    <a:pt x="4449432" y="961749"/>
                    <a:pt x="4445051" y="966130"/>
                  </a:cubicBezTo>
                  <a:cubicBezTo>
                    <a:pt x="4440670" y="970510"/>
                    <a:pt x="4434729" y="972971"/>
                    <a:pt x="4428534" y="972971"/>
                  </a:cubicBezTo>
                  <a:lnTo>
                    <a:pt x="23359" y="972971"/>
                  </a:lnTo>
                  <a:cubicBezTo>
                    <a:pt x="10458" y="972971"/>
                    <a:pt x="0" y="962513"/>
                    <a:pt x="0" y="94961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4451893" cy="982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84460" y="5530035"/>
            <a:ext cx="10919079" cy="1543050"/>
            <a:chOff x="0" y="0"/>
            <a:chExt cx="2875807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TextBox 19"/>
          <p:cNvSpPr txBox="1"/>
          <p:nvPr/>
        </p:nvSpPr>
        <p:spPr>
          <a:xfrm>
            <a:off x="5006717" y="350965"/>
            <a:ext cx="8274567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Alcances del proyecto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5263" y="2658004"/>
            <a:ext cx="19200054" cy="275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usuarios: registro, inicio de sesión, recuperación de contraseña y activación por correo.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Inventario: CRUD completo de insumos y alertas automáticas de stock mínimo.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Recetas: creación, edición y cálculo automático de insumos por receta.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Ventas: catálogo, carrito de compra y flujo de pago con Transbank.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Pedidos: historial de transacciones y visualización del estado del pedido.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Notificaciones: correos automáticos mediante PHPMailer.</a:t>
            </a:r>
          </a:p>
          <a:p>
            <a:pPr algn="l">
              <a:lnSpc>
                <a:spcPts val="2779"/>
              </a:lnSpc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Interfaz de administración: panel para gestión de inventario, recetas y ventas.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44789" y="5623825"/>
            <a:ext cx="4798422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Limitaciones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33883" y="7244535"/>
            <a:ext cx="10020234" cy="2794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incluye aplicación móvil.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incluye dashboards avanzados de analítica (solo métricas básicas).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integra múltiples métodos de pago (solo Transbank).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dispone de sistema multi-sucursal.</a:t>
            </a:r>
          </a:p>
          <a:p>
            <a:pPr marL="541482" lvl="1" indent="-270741" algn="l">
              <a:lnSpc>
                <a:spcPts val="3235"/>
              </a:lnSpc>
              <a:buFont typeface="Arial"/>
              <a:buChar char="•"/>
            </a:pPr>
            <a:r>
              <a:rPr lang="en-US" sz="2508" b="1" spc="21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se implementa facturación electrónica.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7086600" y="54231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817068" y="443452"/>
            <a:ext cx="8653864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Metodologia de trabajo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5505" y="2782315"/>
            <a:ext cx="12536989" cy="3871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y Gestión del Proyecto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Implementación de Scrum: Se utilizó la metodología ágil Scrum.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Duración: El proyecto se estructuró en 3 Sprints de 6 semanas cada uno (totalizando 18 semanas).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Herramientas de Gestión: Se emplearon herramientas específicas para la gestión y ejecución del trabajo.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Planificación de Tareas: Trello.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de Versiones: GitHub.</a:t>
            </a:r>
          </a:p>
          <a:p>
            <a:pPr marL="465115" lvl="1" indent="-232557" algn="l">
              <a:lnSpc>
                <a:spcPts val="2779"/>
              </a:lnSpc>
              <a:buFont typeface="Arial"/>
              <a:buChar char="•"/>
            </a:pPr>
            <a:r>
              <a:rPr lang="en-US" sz="2154" b="1" spc="1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Ejecución Local: XAMPP.</a:t>
            </a:r>
          </a:p>
          <a:p>
            <a:pPr algn="l">
              <a:lnSpc>
                <a:spcPts val="2779"/>
              </a:lnSpc>
            </a:pPr>
            <a:endParaRPr lang="en-US" sz="2154" b="1" spc="1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3235214" y="2258708"/>
            <a:ext cx="11817572" cy="7385205"/>
          </a:xfrm>
          <a:custGeom>
            <a:avLst/>
            <a:gdLst/>
            <a:ahLst/>
            <a:cxnLst/>
            <a:rect l="l" t="t" r="r" b="b"/>
            <a:pathLst>
              <a:path w="11817572" h="7385205">
                <a:moveTo>
                  <a:pt x="0" y="0"/>
                </a:moveTo>
                <a:lnTo>
                  <a:pt x="11817572" y="0"/>
                </a:lnTo>
                <a:lnTo>
                  <a:pt x="11817572" y="7385205"/>
                </a:lnTo>
                <a:lnTo>
                  <a:pt x="0" y="7385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44" b="-2344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247156" y="604045"/>
            <a:ext cx="10356384" cy="73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6"/>
              </a:lnSpc>
            </a:pPr>
            <a:r>
              <a:rPr lang="en-US" sz="3200" spc="27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Planificación y Ejecución de Sprints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4612582" y="2258708"/>
            <a:ext cx="9062836" cy="7635641"/>
          </a:xfrm>
          <a:custGeom>
            <a:avLst/>
            <a:gdLst/>
            <a:ahLst/>
            <a:cxnLst/>
            <a:rect l="l" t="t" r="r" b="b"/>
            <a:pathLst>
              <a:path w="9062836" h="7635641">
                <a:moveTo>
                  <a:pt x="0" y="0"/>
                </a:moveTo>
                <a:lnTo>
                  <a:pt x="9062836" y="0"/>
                </a:lnTo>
                <a:lnTo>
                  <a:pt x="9062836" y="7635641"/>
                </a:lnTo>
                <a:lnTo>
                  <a:pt x="0" y="7635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66" b="-20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996912" y="470503"/>
            <a:ext cx="8294177" cy="93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3"/>
              </a:lnSpc>
            </a:pPr>
            <a:r>
              <a:rPr lang="en-US" sz="4100" spc="35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Historias usarios claves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aphicFrame>
        <p:nvGraphicFramePr>
          <p:cNvPr id="13" name="Object 13"/>
          <p:cNvGraphicFramePr/>
          <p:nvPr>
            <p:extLst>
              <p:ext uri="{D42A27DB-BD31-4B8C-83A1-F6EECF244321}">
                <p14:modId xmlns:p14="http://schemas.microsoft.com/office/powerpoint/2010/main" val="607814194"/>
              </p:ext>
            </p:extLst>
          </p:nvPr>
        </p:nvGraphicFramePr>
        <p:xfrm>
          <a:off x="-685800" y="257885"/>
          <a:ext cx="32031866" cy="1007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1673800" imgH="9817100" progId="Excel.Sheet.12">
                  <p:embed/>
                </p:oleObj>
              </mc:Choice>
              <mc:Fallback>
                <p:oleObj name="Worksheet" r:id="rId4" imgW="31673800" imgH="9817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685800" y="257885"/>
                        <a:ext cx="32031866" cy="10077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5272672" y="562706"/>
            <a:ext cx="8653864" cy="802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5"/>
              </a:lnSpc>
            </a:pPr>
            <a:r>
              <a:rPr lang="en-US" sz="3500" spc="30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Cronograma de desarrollo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4763857" y="424402"/>
            <a:ext cx="8653864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Arquitectura Software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2524" y="2945790"/>
            <a:ext cx="14196529" cy="633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Modelo: MVC (Modelo-Vista-Controlador)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Frontend: HTML5 ,JavaScript, AJAX 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Backend: PHP y ,JSON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Datos: MySQL, Modelo relacional con 9 tablas principales,Uso de PDO para consultas seguras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Servidor: Apache 2.4 (XAMPP )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Integraciones: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Transbank SDK: pagos Webpay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PHPMailer: envío de correos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9846" lvl="1" indent="-214923" algn="l">
              <a:lnSpc>
                <a:spcPts val="2787"/>
              </a:lnSpc>
              <a:buFont typeface="Arial"/>
              <a:buChar char="•"/>
            </a:pPr>
            <a:r>
              <a:rPr lang="en-US" sz="19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PHP dotenv: variables de entorno</a:t>
            </a:r>
          </a:p>
          <a:p>
            <a:pPr algn="l">
              <a:lnSpc>
                <a:spcPts val="2787"/>
              </a:lnSpc>
            </a:pPr>
            <a:endParaRPr lang="en-US" sz="199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2853994" y="1873662"/>
            <a:ext cx="12668446" cy="8437308"/>
          </a:xfrm>
          <a:custGeom>
            <a:avLst/>
            <a:gdLst/>
            <a:ahLst/>
            <a:cxnLst/>
            <a:rect l="l" t="t" r="r" b="b"/>
            <a:pathLst>
              <a:path w="12668446" h="8437308">
                <a:moveTo>
                  <a:pt x="0" y="0"/>
                </a:moveTo>
                <a:lnTo>
                  <a:pt x="12668446" y="0"/>
                </a:lnTo>
                <a:lnTo>
                  <a:pt x="12668446" y="8437308"/>
                </a:lnTo>
                <a:lnTo>
                  <a:pt x="0" y="8437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81" b="-38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4127260" y="491870"/>
            <a:ext cx="10476280" cy="101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Diagrama</a:t>
            </a:r>
            <a:r>
              <a:rPr lang="en-US" sz="4400" spc="378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</a:t>
            </a:r>
            <a:r>
              <a:rPr lang="en-US" sz="4400" spc="378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Entidad</a:t>
            </a:r>
            <a:r>
              <a:rPr lang="en-US" sz="4400" spc="378" dirty="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</a:t>
            </a:r>
            <a:r>
              <a:rPr lang="en-US" sz="4400" spc="378" dirty="0" err="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Relación</a:t>
            </a:r>
            <a:endParaRPr lang="en-US" sz="4400" spc="378" dirty="0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5200734" y="400664"/>
            <a:ext cx="10476280" cy="214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Resultados obtenidos</a:t>
            </a:r>
          </a:p>
          <a:p>
            <a:pPr algn="l">
              <a:lnSpc>
                <a:spcPts val="8932"/>
              </a:lnSpc>
            </a:pPr>
            <a:endParaRPr lang="en-US" sz="4400" spc="378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58645" y="3010609"/>
            <a:ext cx="15266627" cy="4795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•Optimización Interna: Reducción de quiebres de stock y desperdicios gracias a la visibilidad de materias primas y gestión de recetas.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•Expansión de Ventas: Apertura de un nuevo canal digital que rompe la barrera local mediante catálogo y carrito web.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•Automatización: Disminución de la carga administrativa mediante pagos integrados y notificaciones automáticas.</a:t>
            </a:r>
          </a:p>
          <a:p>
            <a:pPr algn="l">
              <a:lnSpc>
                <a:spcPts val="4063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428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•Robustez Técnica: Sistema seguro y escalable basado en tecnologías estándar (PHP, SQL).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4074049" y="804304"/>
            <a:ext cx="10476280" cy="138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2600" spc="22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Obstáculos presentados durante el desarrollo</a:t>
            </a:r>
          </a:p>
          <a:p>
            <a:pPr algn="l">
              <a:lnSpc>
                <a:spcPts val="6496"/>
              </a:lnSpc>
            </a:pPr>
            <a:endParaRPr lang="en-US" sz="2600" spc="223">
              <a:solidFill>
                <a:srgbClr val="000000"/>
              </a:solidFill>
              <a:latin typeface="TAN Headline"/>
              <a:ea typeface="TAN Headline"/>
              <a:cs typeface="TAN Headline"/>
              <a:sym typeface="TAN Headli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71042" y="3125039"/>
            <a:ext cx="13039494" cy="592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•Integración con Transbank: configuración de certificados y respuesta del API provocó retrasos iniciales.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•Normalización de la base de datos: se requirió rediseño para evitar duplicidad y mejorar integridad referencial.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•Problemas con PHPMailer: bloqueos por puertos SMTP y restricciones de servidor local.</a:t>
            </a:r>
          </a:p>
          <a:p>
            <a:pPr algn="l">
              <a:lnSpc>
                <a:spcPts val="3301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•Carga académica externa: coordinación de tiempos entre ambos integrantes dificultó los sprints iniciales.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301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•Gestión de sesiones: mantener coherencia entre carrito, usuario y compra requería validación adicional.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692360" y="2258708"/>
            <a:ext cx="16903280" cy="7672200"/>
            <a:chOff x="0" y="0"/>
            <a:chExt cx="4451893" cy="2020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1893" cy="2020662"/>
            </a:xfrm>
            <a:custGeom>
              <a:avLst/>
              <a:gdLst/>
              <a:ahLst/>
              <a:cxnLst/>
              <a:rect l="l" t="t" r="r" b="b"/>
              <a:pathLst>
                <a:path w="4451893" h="2020662">
                  <a:moveTo>
                    <a:pt x="23359" y="0"/>
                  </a:moveTo>
                  <a:lnTo>
                    <a:pt x="4428534" y="0"/>
                  </a:lnTo>
                  <a:cubicBezTo>
                    <a:pt x="4434729" y="0"/>
                    <a:pt x="4440670" y="2461"/>
                    <a:pt x="4445051" y="6842"/>
                  </a:cubicBezTo>
                  <a:cubicBezTo>
                    <a:pt x="4449432" y="11222"/>
                    <a:pt x="4451893" y="17164"/>
                    <a:pt x="4451893" y="23359"/>
                  </a:cubicBezTo>
                  <a:lnTo>
                    <a:pt x="4451893" y="1997303"/>
                  </a:lnTo>
                  <a:cubicBezTo>
                    <a:pt x="4451893" y="2010204"/>
                    <a:pt x="4441435" y="2020662"/>
                    <a:pt x="4428534" y="2020662"/>
                  </a:cubicBezTo>
                  <a:lnTo>
                    <a:pt x="23359" y="2020662"/>
                  </a:lnTo>
                  <a:cubicBezTo>
                    <a:pt x="17164" y="2020662"/>
                    <a:pt x="11222" y="2018201"/>
                    <a:pt x="6842" y="2013820"/>
                  </a:cubicBezTo>
                  <a:cubicBezTo>
                    <a:pt x="2461" y="2009440"/>
                    <a:pt x="0" y="2003498"/>
                    <a:pt x="0" y="1997303"/>
                  </a:cubicBezTo>
                  <a:lnTo>
                    <a:pt x="0" y="23359"/>
                  </a:lnTo>
                  <a:cubicBezTo>
                    <a:pt x="0" y="17164"/>
                    <a:pt x="2461" y="11222"/>
                    <a:pt x="6842" y="6842"/>
                  </a:cubicBezTo>
                  <a:cubicBezTo>
                    <a:pt x="11222" y="2461"/>
                    <a:pt x="17164" y="0"/>
                    <a:pt x="23359" y="0"/>
                  </a:cubicBezTo>
                  <a:close/>
                </a:path>
              </a:pathLst>
            </a:custGeom>
            <a:solidFill>
              <a:srgbClr val="FFCB7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4451893" cy="203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7514722" y="756679"/>
            <a:ext cx="3258555" cy="75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3300" spc="283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5903" y="2432180"/>
            <a:ext cx="16249772" cy="548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proyecto "Dulce Osadía" culminó con éxito la transición de la empresa de una operación local a una entidad digitalmente optimizada y escalable.  Superando desafíos técnicos en la integración de pagos (Transbank) y notificaciones automáticas (PHPMailer) , el resultado final es un sistema que actúa como un "cerebro" de producción y un "motor" de ventas , garantizando la reducción de quiebres de stock y liberando tiempo administrativo para que Dulce Osadía pueda enfocarse en su crecimiento.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B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00" b="-2400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3631250" y="330612"/>
            <a:ext cx="10919079" cy="1543050"/>
            <a:chOff x="0" y="0"/>
            <a:chExt cx="2875807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5807" cy="406400"/>
            </a:xfrm>
            <a:custGeom>
              <a:avLst/>
              <a:gdLst/>
              <a:ahLst/>
              <a:cxnLst/>
              <a:rect l="l" t="t" r="r" b="b"/>
              <a:pathLst>
                <a:path w="2875807" h="406400">
                  <a:moveTo>
                    <a:pt x="2672607" y="0"/>
                  </a:moveTo>
                  <a:cubicBezTo>
                    <a:pt x="2784831" y="0"/>
                    <a:pt x="2875807" y="90976"/>
                    <a:pt x="2875807" y="203200"/>
                  </a:cubicBezTo>
                  <a:cubicBezTo>
                    <a:pt x="2875807" y="315424"/>
                    <a:pt x="2784831" y="406400"/>
                    <a:pt x="26726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1E3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87580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60581" y="-514350"/>
            <a:ext cx="5224112" cy="1616729"/>
            <a:chOff x="0" y="0"/>
            <a:chExt cx="1375898" cy="425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5898" cy="425805"/>
            </a:xfrm>
            <a:custGeom>
              <a:avLst/>
              <a:gdLst/>
              <a:ahLst/>
              <a:cxnLst/>
              <a:rect l="l" t="t" r="r" b="b"/>
              <a:pathLst>
                <a:path w="1375898" h="425805">
                  <a:moveTo>
                    <a:pt x="75580" y="0"/>
                  </a:moveTo>
                  <a:lnTo>
                    <a:pt x="1300318" y="0"/>
                  </a:lnTo>
                  <a:cubicBezTo>
                    <a:pt x="1320363" y="0"/>
                    <a:pt x="1339587" y="7963"/>
                    <a:pt x="1353761" y="22137"/>
                  </a:cubicBezTo>
                  <a:cubicBezTo>
                    <a:pt x="1367935" y="36311"/>
                    <a:pt x="1375898" y="55535"/>
                    <a:pt x="1375898" y="75580"/>
                  </a:cubicBezTo>
                  <a:lnTo>
                    <a:pt x="1375898" y="350225"/>
                  </a:lnTo>
                  <a:cubicBezTo>
                    <a:pt x="1375898" y="370270"/>
                    <a:pt x="1367935" y="389494"/>
                    <a:pt x="1353761" y="403668"/>
                  </a:cubicBezTo>
                  <a:cubicBezTo>
                    <a:pt x="1339587" y="417842"/>
                    <a:pt x="1320363" y="425805"/>
                    <a:pt x="1300318" y="425805"/>
                  </a:cubicBezTo>
                  <a:lnTo>
                    <a:pt x="75580" y="425805"/>
                  </a:lnTo>
                  <a:cubicBezTo>
                    <a:pt x="55535" y="425805"/>
                    <a:pt x="36311" y="417842"/>
                    <a:pt x="22137" y="403668"/>
                  </a:cubicBezTo>
                  <a:cubicBezTo>
                    <a:pt x="7963" y="389494"/>
                    <a:pt x="0" y="370270"/>
                    <a:pt x="0" y="350225"/>
                  </a:cubicBezTo>
                  <a:lnTo>
                    <a:pt x="0" y="75580"/>
                  </a:lnTo>
                  <a:cubicBezTo>
                    <a:pt x="0" y="55535"/>
                    <a:pt x="7963" y="36311"/>
                    <a:pt x="22137" y="22137"/>
                  </a:cubicBezTo>
                  <a:cubicBezTo>
                    <a:pt x="36311" y="7963"/>
                    <a:pt x="55535" y="0"/>
                    <a:pt x="755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75898" cy="43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603540" y="84245"/>
            <a:ext cx="3711230" cy="929609"/>
          </a:xfrm>
          <a:custGeom>
            <a:avLst/>
            <a:gdLst/>
            <a:ahLst/>
            <a:cxnLst/>
            <a:rect l="l" t="t" r="r" b="b"/>
            <a:pathLst>
              <a:path w="3711230" h="929609">
                <a:moveTo>
                  <a:pt x="0" y="0"/>
                </a:moveTo>
                <a:lnTo>
                  <a:pt x="3711230" y="0"/>
                </a:lnTo>
                <a:lnTo>
                  <a:pt x="3711230" y="929609"/>
                </a:lnTo>
                <a:lnTo>
                  <a:pt x="0" y="929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3642893" y="3205634"/>
            <a:ext cx="11002214" cy="5127187"/>
          </a:xfrm>
          <a:custGeom>
            <a:avLst/>
            <a:gdLst/>
            <a:ahLst/>
            <a:cxnLst/>
            <a:rect l="l" t="t" r="r" b="b"/>
            <a:pathLst>
              <a:path w="11002214" h="5127187">
                <a:moveTo>
                  <a:pt x="0" y="0"/>
                </a:moveTo>
                <a:lnTo>
                  <a:pt x="11002214" y="0"/>
                </a:lnTo>
                <a:lnTo>
                  <a:pt x="11002214" y="5127187"/>
                </a:lnTo>
                <a:lnTo>
                  <a:pt x="0" y="512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1"/>
          <p:cNvSpPr txBox="1"/>
          <p:nvPr/>
        </p:nvSpPr>
        <p:spPr>
          <a:xfrm>
            <a:off x="6639483" y="470745"/>
            <a:ext cx="5009033" cy="93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3"/>
              </a:lnSpc>
            </a:pPr>
            <a:r>
              <a:rPr lang="en-US" sz="4100" spc="352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Demostración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1546" y="4358448"/>
            <a:ext cx="15984908" cy="183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13815" spc="110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725</Words>
  <Application>Microsoft Office PowerPoint</Application>
  <PresentationFormat>Personalizado</PresentationFormat>
  <Paragraphs>96</Paragraphs>
  <Slides>17</Slides>
  <Notes>0</Notes>
  <HiddenSlides>0</HiddenSlides>
  <MMClips>1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7" baseType="lpstr">
      <vt:lpstr>Arial</vt:lpstr>
      <vt:lpstr>Open Sans Bold</vt:lpstr>
      <vt:lpstr>Montserrat Extra-Light</vt:lpstr>
      <vt:lpstr>Montserrat Bold</vt:lpstr>
      <vt:lpstr>TAN Headline</vt:lpstr>
      <vt:lpstr>Calibri</vt:lpstr>
      <vt:lpstr>Montserrat Ultra-Bold</vt:lpstr>
      <vt:lpstr>Open Sans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Nuevo sitio web</dc:title>
  <cp:lastModifiedBy>MARTIN . TRUJILLO CASTRO</cp:lastModifiedBy>
  <cp:revision>2</cp:revision>
  <dcterms:created xsi:type="dcterms:W3CDTF">2006-08-16T00:00:00Z</dcterms:created>
  <dcterms:modified xsi:type="dcterms:W3CDTF">2025-12-09T23:55:54Z</dcterms:modified>
  <dc:identifier>DAG58jeHyJ8</dc:identifier>
</cp:coreProperties>
</file>