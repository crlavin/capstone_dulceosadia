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4" r:id="rId6"/>
    <p:sldId id="260" r:id="rId7"/>
    <p:sldId id="262" r:id="rId8"/>
    <p:sldId id="263" r:id="rId9"/>
    <p:sldId id="269" r:id="rId10"/>
    <p:sldId id="270" r:id="rId11"/>
    <p:sldId id="265" r:id="rId12"/>
    <p:sldId id="267" r:id="rId13"/>
    <p:sldId id="268" r:id="rId14"/>
    <p:sldId id="266" r:id="rId15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E4D5"/>
    <a:srgbClr val="FFF2CC"/>
    <a:srgbClr val="E2EFD9"/>
    <a:srgbClr val="99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image" Target="../media/image3.jpg"/></Relationships>
</file>

<file path=ppt/diagrams/_rels/drawing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image" Target="../media/image3.jp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E45140C-C326-4DAA-A267-498AD5117D68}" type="doc">
      <dgm:prSet loTypeId="urn:microsoft.com/office/officeart/2005/8/layout/vList4" loCatId="picture" qsTypeId="urn:microsoft.com/office/officeart/2005/8/quickstyle/simple5" qsCatId="simple" csTypeId="urn:microsoft.com/office/officeart/2005/8/colors/accent5_2" csCatId="accent5" phldr="1"/>
      <dgm:spPr/>
      <dgm:t>
        <a:bodyPr/>
        <a:lstStyle/>
        <a:p>
          <a:endParaRPr lang="es-CL"/>
        </a:p>
      </dgm:t>
    </dgm:pt>
    <dgm:pt modelId="{78BFB295-8F5D-4286-B72B-79142F8F0E13}">
      <dgm:prSet phldrT="[Texto]"/>
      <dgm:spPr/>
      <dgm:t>
        <a:bodyPr/>
        <a:lstStyle/>
        <a:p>
          <a:r>
            <a:rPr lang="es-MX" dirty="0"/>
            <a:t>Cristian Lavín</a:t>
          </a:r>
          <a:endParaRPr lang="es-CL" dirty="0"/>
        </a:p>
      </dgm:t>
    </dgm:pt>
    <dgm:pt modelId="{F1885FAB-61EC-4F80-98D0-72360031AF9F}" type="parTrans" cxnId="{2AD07198-D472-4B98-B6D5-5A730374E9A2}">
      <dgm:prSet/>
      <dgm:spPr/>
      <dgm:t>
        <a:bodyPr/>
        <a:lstStyle/>
        <a:p>
          <a:endParaRPr lang="es-CL"/>
        </a:p>
      </dgm:t>
    </dgm:pt>
    <dgm:pt modelId="{E88D0928-51D4-4670-8963-60ABBB193E13}" type="sibTrans" cxnId="{2AD07198-D472-4B98-B6D5-5A730374E9A2}">
      <dgm:prSet/>
      <dgm:spPr/>
      <dgm:t>
        <a:bodyPr/>
        <a:lstStyle/>
        <a:p>
          <a:endParaRPr lang="es-CL"/>
        </a:p>
      </dgm:t>
    </dgm:pt>
    <dgm:pt modelId="{02A34BC0-F8BA-4A89-87A4-4F20079DFD06}">
      <dgm:prSet phldrT="[Texto]"/>
      <dgm:spPr/>
      <dgm:t>
        <a:bodyPr/>
        <a:lstStyle/>
        <a:p>
          <a:r>
            <a:rPr lang="es-MX" dirty="0"/>
            <a:t>Martin Trujillo</a:t>
          </a:r>
          <a:endParaRPr lang="es-CL" dirty="0"/>
        </a:p>
      </dgm:t>
    </dgm:pt>
    <dgm:pt modelId="{9ADB496F-2DB6-4F16-8C91-2EB9CDF5F2F2}" type="parTrans" cxnId="{0E2AE979-A66C-4CEC-BFF4-5B28BB7CD9EA}">
      <dgm:prSet/>
      <dgm:spPr/>
      <dgm:t>
        <a:bodyPr/>
        <a:lstStyle/>
        <a:p>
          <a:endParaRPr lang="es-CL"/>
        </a:p>
      </dgm:t>
    </dgm:pt>
    <dgm:pt modelId="{44AB630E-CD8B-4223-9F51-5EEE4E054B0A}" type="sibTrans" cxnId="{0E2AE979-A66C-4CEC-BFF4-5B28BB7CD9EA}">
      <dgm:prSet/>
      <dgm:spPr/>
      <dgm:t>
        <a:bodyPr/>
        <a:lstStyle/>
        <a:p>
          <a:endParaRPr lang="es-CL"/>
        </a:p>
      </dgm:t>
    </dgm:pt>
    <dgm:pt modelId="{2E221207-005F-49CB-81E1-6D036D64322B}">
      <dgm:prSet phldrT="[Texto]"/>
      <dgm:spPr/>
      <dgm:t>
        <a:bodyPr/>
        <a:lstStyle/>
        <a:p>
          <a:r>
            <a:rPr lang="es-MX" dirty="0" err="1"/>
            <a:t>Developer</a:t>
          </a:r>
          <a:endParaRPr lang="es-CL" dirty="0"/>
        </a:p>
      </dgm:t>
    </dgm:pt>
    <dgm:pt modelId="{3728DB5E-E904-481D-A1E5-49CF4AFFC0D3}" type="sibTrans" cxnId="{1C3272C9-C630-4D60-B76B-138907BB4D41}">
      <dgm:prSet/>
      <dgm:spPr/>
      <dgm:t>
        <a:bodyPr/>
        <a:lstStyle/>
        <a:p>
          <a:endParaRPr lang="es-CL"/>
        </a:p>
      </dgm:t>
    </dgm:pt>
    <dgm:pt modelId="{B200B6AA-AA2A-4CB8-80FF-4BB54938E8A5}" type="parTrans" cxnId="{1C3272C9-C630-4D60-B76B-138907BB4D41}">
      <dgm:prSet/>
      <dgm:spPr/>
      <dgm:t>
        <a:bodyPr/>
        <a:lstStyle/>
        <a:p>
          <a:endParaRPr lang="es-CL"/>
        </a:p>
      </dgm:t>
    </dgm:pt>
    <dgm:pt modelId="{55A2A9EB-4C26-43C3-B721-D475B10BC39B}">
      <dgm:prSet phldrT="[Texto]"/>
      <dgm:spPr/>
      <dgm:t>
        <a:bodyPr/>
        <a:lstStyle/>
        <a:p>
          <a:r>
            <a:rPr lang="es-MX" dirty="0" err="1"/>
            <a:t>Developer</a:t>
          </a:r>
          <a:endParaRPr lang="es-CL" dirty="0"/>
        </a:p>
      </dgm:t>
    </dgm:pt>
    <dgm:pt modelId="{4EF4588A-187C-4393-9DFC-C6D80B20E995}" type="sibTrans" cxnId="{ECED70CB-7A25-48F8-9E03-51596FB1E92C}">
      <dgm:prSet/>
      <dgm:spPr/>
      <dgm:t>
        <a:bodyPr/>
        <a:lstStyle/>
        <a:p>
          <a:endParaRPr lang="es-CL"/>
        </a:p>
      </dgm:t>
    </dgm:pt>
    <dgm:pt modelId="{B8424EB2-FFE7-4867-9D5A-EE0D46E8AAFE}" type="parTrans" cxnId="{ECED70CB-7A25-48F8-9E03-51596FB1E92C}">
      <dgm:prSet/>
      <dgm:spPr/>
      <dgm:t>
        <a:bodyPr/>
        <a:lstStyle/>
        <a:p>
          <a:endParaRPr lang="es-CL"/>
        </a:p>
      </dgm:t>
    </dgm:pt>
    <dgm:pt modelId="{BE62047B-8C2B-4B07-9C6F-D39FB3FAC29C}">
      <dgm:prSet phldrT="[Texto]"/>
      <dgm:spPr/>
      <dgm:t>
        <a:bodyPr/>
        <a:lstStyle/>
        <a:p>
          <a:r>
            <a:rPr lang="es-MX" dirty="0"/>
            <a:t>Scrum Master</a:t>
          </a:r>
          <a:endParaRPr lang="es-CL" dirty="0"/>
        </a:p>
      </dgm:t>
    </dgm:pt>
    <dgm:pt modelId="{AD528903-378A-492C-91D4-7FA93F9C83D7}" type="parTrans" cxnId="{E3681E0C-8DAD-41F4-B297-47A7529A858F}">
      <dgm:prSet/>
      <dgm:spPr/>
      <dgm:t>
        <a:bodyPr/>
        <a:lstStyle/>
        <a:p>
          <a:endParaRPr lang="es-CL"/>
        </a:p>
      </dgm:t>
    </dgm:pt>
    <dgm:pt modelId="{F218BC97-7F81-48F8-9A51-8A98DA617295}" type="sibTrans" cxnId="{E3681E0C-8DAD-41F4-B297-47A7529A858F}">
      <dgm:prSet/>
      <dgm:spPr/>
      <dgm:t>
        <a:bodyPr/>
        <a:lstStyle/>
        <a:p>
          <a:endParaRPr lang="es-CL"/>
        </a:p>
      </dgm:t>
    </dgm:pt>
    <dgm:pt modelId="{937F31D4-3340-4DC4-833F-4B23CBBA8E99}">
      <dgm:prSet phldrT="[Texto]"/>
      <dgm:spPr/>
      <dgm:t>
        <a:bodyPr/>
        <a:lstStyle/>
        <a:p>
          <a:r>
            <a:rPr lang="es-MX" dirty="0" err="1"/>
            <a:t>Product</a:t>
          </a:r>
          <a:r>
            <a:rPr lang="es-MX" dirty="0"/>
            <a:t> </a:t>
          </a:r>
          <a:r>
            <a:rPr lang="es-MX" dirty="0" err="1"/>
            <a:t>Owner</a:t>
          </a:r>
          <a:endParaRPr lang="es-CL" dirty="0"/>
        </a:p>
      </dgm:t>
    </dgm:pt>
    <dgm:pt modelId="{35A931B3-2FA2-41DF-8160-F9594CF3071E}" type="parTrans" cxnId="{6768F608-CC42-4EFF-8E69-DC4D6D4254B7}">
      <dgm:prSet/>
      <dgm:spPr/>
      <dgm:t>
        <a:bodyPr/>
        <a:lstStyle/>
        <a:p>
          <a:endParaRPr lang="es-CL"/>
        </a:p>
      </dgm:t>
    </dgm:pt>
    <dgm:pt modelId="{14189FC2-E02F-46CF-8358-D2A1707B877B}" type="sibTrans" cxnId="{6768F608-CC42-4EFF-8E69-DC4D6D4254B7}">
      <dgm:prSet/>
      <dgm:spPr/>
      <dgm:t>
        <a:bodyPr/>
        <a:lstStyle/>
        <a:p>
          <a:endParaRPr lang="es-CL"/>
        </a:p>
      </dgm:t>
    </dgm:pt>
    <dgm:pt modelId="{6E1E561E-88C1-49C6-A3F7-DE4B9AD43273}" type="pres">
      <dgm:prSet presAssocID="{BE45140C-C326-4DAA-A267-498AD5117D68}" presName="linear" presStyleCnt="0">
        <dgm:presLayoutVars>
          <dgm:dir/>
          <dgm:resizeHandles val="exact"/>
        </dgm:presLayoutVars>
      </dgm:prSet>
      <dgm:spPr/>
    </dgm:pt>
    <dgm:pt modelId="{F70979D0-5925-4EC3-AD84-986E0EC7B0D8}" type="pres">
      <dgm:prSet presAssocID="{78BFB295-8F5D-4286-B72B-79142F8F0E13}" presName="comp" presStyleCnt="0"/>
      <dgm:spPr/>
    </dgm:pt>
    <dgm:pt modelId="{54FC4CB6-0791-48D3-B2C5-2E99B8AFCFF7}" type="pres">
      <dgm:prSet presAssocID="{78BFB295-8F5D-4286-B72B-79142F8F0E13}" presName="box" presStyleLbl="node1" presStyleIdx="0" presStyleCnt="2" custLinFactNeighborX="5318" custLinFactNeighborY="-12417"/>
      <dgm:spPr/>
    </dgm:pt>
    <dgm:pt modelId="{9A7E2690-DE9C-4572-9BE5-B8C9A3B8BBB3}" type="pres">
      <dgm:prSet presAssocID="{78BFB295-8F5D-4286-B72B-79142F8F0E13}" presName="img" presStyleLbl="fgImgPlace1" presStyleIdx="0" presStyleCnt="2"/>
      <dgm:spPr>
        <a:blipFill>
          <a:blip xmlns:r="http://schemas.openxmlformats.org/officeDocument/2006/relationships" r:embed="rId1"/>
          <a:srcRect/>
          <a:stretch>
            <a:fillRect l="-4000" r="-4000"/>
          </a:stretch>
        </a:blipFill>
      </dgm:spPr>
    </dgm:pt>
    <dgm:pt modelId="{52D125D2-FCA7-4A2D-AB39-B6BD54F251F2}" type="pres">
      <dgm:prSet presAssocID="{78BFB295-8F5D-4286-B72B-79142F8F0E13}" presName="text" presStyleLbl="node1" presStyleIdx="0" presStyleCnt="2">
        <dgm:presLayoutVars>
          <dgm:bulletEnabled val="1"/>
        </dgm:presLayoutVars>
      </dgm:prSet>
      <dgm:spPr/>
    </dgm:pt>
    <dgm:pt modelId="{E95CA29D-745B-40BA-93B6-BB607C99A2CE}" type="pres">
      <dgm:prSet presAssocID="{E88D0928-51D4-4670-8963-60ABBB193E13}" presName="spacer" presStyleCnt="0"/>
      <dgm:spPr/>
    </dgm:pt>
    <dgm:pt modelId="{41A67AC8-1DD7-4AB7-96A3-87B24035E3FA}" type="pres">
      <dgm:prSet presAssocID="{02A34BC0-F8BA-4A89-87A4-4F20079DFD06}" presName="comp" presStyleCnt="0"/>
      <dgm:spPr/>
    </dgm:pt>
    <dgm:pt modelId="{39AFE128-ACF6-44CA-B18B-64F5782CF210}" type="pres">
      <dgm:prSet presAssocID="{02A34BC0-F8BA-4A89-87A4-4F20079DFD06}" presName="box" presStyleLbl="node1" presStyleIdx="1" presStyleCnt="2"/>
      <dgm:spPr/>
    </dgm:pt>
    <dgm:pt modelId="{3F97C059-D720-4D48-953F-B84D04D0BF79}" type="pres">
      <dgm:prSet presAssocID="{02A34BC0-F8BA-4A89-87A4-4F20079DFD06}" presName="img" presStyleLbl="fgImgPlace1" presStyleIdx="1" presStyleCnt="2"/>
      <dgm:spPr>
        <a:blipFill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11000" b="-11000"/>
          </a:stretch>
        </a:blipFill>
      </dgm:spPr>
    </dgm:pt>
    <dgm:pt modelId="{CFFDF23F-D296-4CDF-8EE4-8A672559E207}" type="pres">
      <dgm:prSet presAssocID="{02A34BC0-F8BA-4A89-87A4-4F20079DFD06}" presName="text" presStyleLbl="node1" presStyleIdx="1" presStyleCnt="2">
        <dgm:presLayoutVars>
          <dgm:bulletEnabled val="1"/>
        </dgm:presLayoutVars>
      </dgm:prSet>
      <dgm:spPr/>
    </dgm:pt>
  </dgm:ptLst>
  <dgm:cxnLst>
    <dgm:cxn modelId="{399BD705-2380-48A3-9C48-1D49A5A32D61}" type="presOf" srcId="{2E221207-005F-49CB-81E1-6D036D64322B}" destId="{52D125D2-FCA7-4A2D-AB39-B6BD54F251F2}" srcOrd="1" destOrd="1" presId="urn:microsoft.com/office/officeart/2005/8/layout/vList4"/>
    <dgm:cxn modelId="{6768F608-CC42-4EFF-8E69-DC4D6D4254B7}" srcId="{02A34BC0-F8BA-4A89-87A4-4F20079DFD06}" destId="{937F31D4-3340-4DC4-833F-4B23CBBA8E99}" srcOrd="1" destOrd="0" parTransId="{35A931B3-2FA2-41DF-8160-F9594CF3071E}" sibTransId="{14189FC2-E02F-46CF-8358-D2A1707B877B}"/>
    <dgm:cxn modelId="{E3681E0C-8DAD-41F4-B297-47A7529A858F}" srcId="{78BFB295-8F5D-4286-B72B-79142F8F0E13}" destId="{BE62047B-8C2B-4B07-9C6F-D39FB3FAC29C}" srcOrd="1" destOrd="0" parTransId="{AD528903-378A-492C-91D4-7FA93F9C83D7}" sibTransId="{F218BC97-7F81-48F8-9A51-8A98DA617295}"/>
    <dgm:cxn modelId="{D2B94F0C-C779-4AC1-87E4-35116A3DED02}" type="presOf" srcId="{78BFB295-8F5D-4286-B72B-79142F8F0E13}" destId="{54FC4CB6-0791-48D3-B2C5-2E99B8AFCFF7}" srcOrd="0" destOrd="0" presId="urn:microsoft.com/office/officeart/2005/8/layout/vList4"/>
    <dgm:cxn modelId="{58100F33-A881-4238-A7FC-28941A0AEA39}" type="presOf" srcId="{BE62047B-8C2B-4B07-9C6F-D39FB3FAC29C}" destId="{52D125D2-FCA7-4A2D-AB39-B6BD54F251F2}" srcOrd="1" destOrd="2" presId="urn:microsoft.com/office/officeart/2005/8/layout/vList4"/>
    <dgm:cxn modelId="{A6E20436-8EF1-4FFF-9C29-AC69BF1D5C4A}" type="presOf" srcId="{02A34BC0-F8BA-4A89-87A4-4F20079DFD06}" destId="{39AFE128-ACF6-44CA-B18B-64F5782CF210}" srcOrd="0" destOrd="0" presId="urn:microsoft.com/office/officeart/2005/8/layout/vList4"/>
    <dgm:cxn modelId="{22F3405C-AB8E-4AC3-A83C-C551BA0831ED}" type="presOf" srcId="{55A2A9EB-4C26-43C3-B721-D475B10BC39B}" destId="{39AFE128-ACF6-44CA-B18B-64F5782CF210}" srcOrd="0" destOrd="1" presId="urn:microsoft.com/office/officeart/2005/8/layout/vList4"/>
    <dgm:cxn modelId="{4DBA2473-D3C7-4F89-905B-245F092BC096}" type="presOf" srcId="{937F31D4-3340-4DC4-833F-4B23CBBA8E99}" destId="{CFFDF23F-D296-4CDF-8EE4-8A672559E207}" srcOrd="1" destOrd="2" presId="urn:microsoft.com/office/officeart/2005/8/layout/vList4"/>
    <dgm:cxn modelId="{DC02AD53-682D-464B-9D09-C1B6DCD5AFB0}" type="presOf" srcId="{55A2A9EB-4C26-43C3-B721-D475B10BC39B}" destId="{CFFDF23F-D296-4CDF-8EE4-8A672559E207}" srcOrd="1" destOrd="1" presId="urn:microsoft.com/office/officeart/2005/8/layout/vList4"/>
    <dgm:cxn modelId="{E9C63D77-4F6A-4AA1-86C5-098C64C8EE0C}" type="presOf" srcId="{BE62047B-8C2B-4B07-9C6F-D39FB3FAC29C}" destId="{54FC4CB6-0791-48D3-B2C5-2E99B8AFCFF7}" srcOrd="0" destOrd="2" presId="urn:microsoft.com/office/officeart/2005/8/layout/vList4"/>
    <dgm:cxn modelId="{0E2AE979-A66C-4CEC-BFF4-5B28BB7CD9EA}" srcId="{BE45140C-C326-4DAA-A267-498AD5117D68}" destId="{02A34BC0-F8BA-4A89-87A4-4F20079DFD06}" srcOrd="1" destOrd="0" parTransId="{9ADB496F-2DB6-4F16-8C91-2EB9CDF5F2F2}" sibTransId="{44AB630E-CD8B-4223-9F51-5EEE4E054B0A}"/>
    <dgm:cxn modelId="{2AD07198-D472-4B98-B6D5-5A730374E9A2}" srcId="{BE45140C-C326-4DAA-A267-498AD5117D68}" destId="{78BFB295-8F5D-4286-B72B-79142F8F0E13}" srcOrd="0" destOrd="0" parTransId="{F1885FAB-61EC-4F80-98D0-72360031AF9F}" sibTransId="{E88D0928-51D4-4670-8963-60ABBB193E13}"/>
    <dgm:cxn modelId="{690A389C-25C1-485B-88F9-437236A47744}" type="presOf" srcId="{BE45140C-C326-4DAA-A267-498AD5117D68}" destId="{6E1E561E-88C1-49C6-A3F7-DE4B9AD43273}" srcOrd="0" destOrd="0" presId="urn:microsoft.com/office/officeart/2005/8/layout/vList4"/>
    <dgm:cxn modelId="{ECFD91A4-F44F-4C84-8B25-37DA0B249A1F}" type="presOf" srcId="{78BFB295-8F5D-4286-B72B-79142F8F0E13}" destId="{52D125D2-FCA7-4A2D-AB39-B6BD54F251F2}" srcOrd="1" destOrd="0" presId="urn:microsoft.com/office/officeart/2005/8/layout/vList4"/>
    <dgm:cxn modelId="{F7B000A6-8D1B-47AD-A7A9-06714CE1C8B0}" type="presOf" srcId="{937F31D4-3340-4DC4-833F-4B23CBBA8E99}" destId="{39AFE128-ACF6-44CA-B18B-64F5782CF210}" srcOrd="0" destOrd="2" presId="urn:microsoft.com/office/officeart/2005/8/layout/vList4"/>
    <dgm:cxn modelId="{1C3272C9-C630-4D60-B76B-138907BB4D41}" srcId="{78BFB295-8F5D-4286-B72B-79142F8F0E13}" destId="{2E221207-005F-49CB-81E1-6D036D64322B}" srcOrd="0" destOrd="0" parTransId="{B200B6AA-AA2A-4CB8-80FF-4BB54938E8A5}" sibTransId="{3728DB5E-E904-481D-A1E5-49CF4AFFC0D3}"/>
    <dgm:cxn modelId="{ECED70CB-7A25-48F8-9E03-51596FB1E92C}" srcId="{02A34BC0-F8BA-4A89-87A4-4F20079DFD06}" destId="{55A2A9EB-4C26-43C3-B721-D475B10BC39B}" srcOrd="0" destOrd="0" parTransId="{B8424EB2-FFE7-4867-9D5A-EE0D46E8AAFE}" sibTransId="{4EF4588A-187C-4393-9DFC-C6D80B20E995}"/>
    <dgm:cxn modelId="{22A4C7D2-C14A-4622-8C4E-3FE51F50DCC3}" type="presOf" srcId="{02A34BC0-F8BA-4A89-87A4-4F20079DFD06}" destId="{CFFDF23F-D296-4CDF-8EE4-8A672559E207}" srcOrd="1" destOrd="0" presId="urn:microsoft.com/office/officeart/2005/8/layout/vList4"/>
    <dgm:cxn modelId="{A70C9FD5-2935-4C81-937A-B6C05F5E54BA}" type="presOf" srcId="{2E221207-005F-49CB-81E1-6D036D64322B}" destId="{54FC4CB6-0791-48D3-B2C5-2E99B8AFCFF7}" srcOrd="0" destOrd="1" presId="urn:microsoft.com/office/officeart/2005/8/layout/vList4"/>
    <dgm:cxn modelId="{DA463EE6-78DB-4E59-8099-EBA029F401B0}" type="presParOf" srcId="{6E1E561E-88C1-49C6-A3F7-DE4B9AD43273}" destId="{F70979D0-5925-4EC3-AD84-986E0EC7B0D8}" srcOrd="0" destOrd="0" presId="urn:microsoft.com/office/officeart/2005/8/layout/vList4"/>
    <dgm:cxn modelId="{2FE346D7-6685-4BD0-9465-988681234E35}" type="presParOf" srcId="{F70979D0-5925-4EC3-AD84-986E0EC7B0D8}" destId="{54FC4CB6-0791-48D3-B2C5-2E99B8AFCFF7}" srcOrd="0" destOrd="0" presId="urn:microsoft.com/office/officeart/2005/8/layout/vList4"/>
    <dgm:cxn modelId="{3671DC51-8308-4E14-B210-C8528BB18500}" type="presParOf" srcId="{F70979D0-5925-4EC3-AD84-986E0EC7B0D8}" destId="{9A7E2690-DE9C-4572-9BE5-B8C9A3B8BBB3}" srcOrd="1" destOrd="0" presId="urn:microsoft.com/office/officeart/2005/8/layout/vList4"/>
    <dgm:cxn modelId="{36512CCB-6AF4-4E79-94F2-3EAFE5E8BC48}" type="presParOf" srcId="{F70979D0-5925-4EC3-AD84-986E0EC7B0D8}" destId="{52D125D2-FCA7-4A2D-AB39-B6BD54F251F2}" srcOrd="2" destOrd="0" presId="urn:microsoft.com/office/officeart/2005/8/layout/vList4"/>
    <dgm:cxn modelId="{ECC56BF9-E938-422B-98CD-A358ACD6F8DC}" type="presParOf" srcId="{6E1E561E-88C1-49C6-A3F7-DE4B9AD43273}" destId="{E95CA29D-745B-40BA-93B6-BB607C99A2CE}" srcOrd="1" destOrd="0" presId="urn:microsoft.com/office/officeart/2005/8/layout/vList4"/>
    <dgm:cxn modelId="{158F6488-FF9D-4053-8FD1-E0DD5F22ECAD}" type="presParOf" srcId="{6E1E561E-88C1-49C6-A3F7-DE4B9AD43273}" destId="{41A67AC8-1DD7-4AB7-96A3-87B24035E3FA}" srcOrd="2" destOrd="0" presId="urn:microsoft.com/office/officeart/2005/8/layout/vList4"/>
    <dgm:cxn modelId="{236FF4A9-4957-4F7A-A24B-795FE34BEEFD}" type="presParOf" srcId="{41A67AC8-1DD7-4AB7-96A3-87B24035E3FA}" destId="{39AFE128-ACF6-44CA-B18B-64F5782CF210}" srcOrd="0" destOrd="0" presId="urn:microsoft.com/office/officeart/2005/8/layout/vList4"/>
    <dgm:cxn modelId="{5BD15FCC-0B87-4D85-98EC-9D897E4655EE}" type="presParOf" srcId="{41A67AC8-1DD7-4AB7-96A3-87B24035E3FA}" destId="{3F97C059-D720-4D48-953F-B84D04D0BF79}" srcOrd="1" destOrd="0" presId="urn:microsoft.com/office/officeart/2005/8/layout/vList4"/>
    <dgm:cxn modelId="{3156CEE4-28C8-4C16-85AC-EE6796DAD482}" type="presParOf" srcId="{41A67AC8-1DD7-4AB7-96A3-87B24035E3FA}" destId="{CFFDF23F-D296-4CDF-8EE4-8A672559E207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4FC4CB6-0791-48D3-B2C5-2E99B8AFCFF7}">
      <dsp:nvSpPr>
        <dsp:cNvPr id="0" name=""/>
        <dsp:cNvSpPr/>
      </dsp:nvSpPr>
      <dsp:spPr>
        <a:xfrm>
          <a:off x="0" y="0"/>
          <a:ext cx="7633494" cy="207118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t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4000" kern="1200" dirty="0"/>
            <a:t>Cristian Lavín</a:t>
          </a:r>
          <a:endParaRPr lang="es-CL" sz="4000" kern="1200" dirty="0"/>
        </a:p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3100" kern="1200" dirty="0" err="1"/>
            <a:t>Developer</a:t>
          </a:r>
          <a:endParaRPr lang="es-CL" sz="3100" kern="1200" dirty="0"/>
        </a:p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3100" kern="1200" dirty="0"/>
            <a:t>Scrum Master</a:t>
          </a:r>
          <a:endParaRPr lang="es-CL" sz="3100" kern="1200" dirty="0"/>
        </a:p>
      </dsp:txBody>
      <dsp:txXfrm>
        <a:off x="1733817" y="0"/>
        <a:ext cx="5899676" cy="2071186"/>
      </dsp:txXfrm>
    </dsp:sp>
    <dsp:sp modelId="{9A7E2690-DE9C-4572-9BE5-B8C9A3B8BBB3}">
      <dsp:nvSpPr>
        <dsp:cNvPr id="0" name=""/>
        <dsp:cNvSpPr/>
      </dsp:nvSpPr>
      <dsp:spPr>
        <a:xfrm>
          <a:off x="207118" y="207118"/>
          <a:ext cx="1526698" cy="1656949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l="-4000" r="-4000"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39AFE128-ACF6-44CA-B18B-64F5782CF210}">
      <dsp:nvSpPr>
        <dsp:cNvPr id="0" name=""/>
        <dsp:cNvSpPr/>
      </dsp:nvSpPr>
      <dsp:spPr>
        <a:xfrm>
          <a:off x="0" y="2278305"/>
          <a:ext cx="7633494" cy="207118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t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4000" kern="1200" dirty="0"/>
            <a:t>Martin Trujillo</a:t>
          </a:r>
          <a:endParaRPr lang="es-CL" sz="4000" kern="1200" dirty="0"/>
        </a:p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3100" kern="1200" dirty="0" err="1"/>
            <a:t>Developer</a:t>
          </a:r>
          <a:endParaRPr lang="es-CL" sz="3100" kern="1200" dirty="0"/>
        </a:p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3100" kern="1200" dirty="0" err="1"/>
            <a:t>Product</a:t>
          </a:r>
          <a:r>
            <a:rPr lang="es-MX" sz="3100" kern="1200" dirty="0"/>
            <a:t> </a:t>
          </a:r>
          <a:r>
            <a:rPr lang="es-MX" sz="3100" kern="1200" dirty="0" err="1"/>
            <a:t>Owner</a:t>
          </a:r>
          <a:endParaRPr lang="es-CL" sz="3100" kern="1200" dirty="0"/>
        </a:p>
      </dsp:txBody>
      <dsp:txXfrm>
        <a:off x="1733817" y="2278305"/>
        <a:ext cx="5899676" cy="2071186"/>
      </dsp:txXfrm>
    </dsp:sp>
    <dsp:sp modelId="{3F97C059-D720-4D48-953F-B84D04D0BF79}">
      <dsp:nvSpPr>
        <dsp:cNvPr id="0" name=""/>
        <dsp:cNvSpPr/>
      </dsp:nvSpPr>
      <dsp:spPr>
        <a:xfrm>
          <a:off x="207118" y="2485423"/>
          <a:ext cx="1526698" cy="1656949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11000" b="-11000"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64A916-2C2E-265E-D1A7-F8BA8BAA56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E2B618F-FEF4-D0FB-4038-D93A262EA3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443312A-AEFB-3177-E12B-386C4F429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21-11-2025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47C3C00-ADC0-ABB2-EF55-4D170DA0D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1B0C28A-E393-39C0-65D4-7252445FA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53887044"/>
      </p:ext>
    </p:extLst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A7B6CD-9456-B138-ECD2-C8D7A666C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874D6B0-7AF3-685F-CEAB-5529E05E8C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AF52F25-C2C6-7F7B-276E-37CD648AA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21-11-2025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3947A73-C5CF-9FE2-967B-D4D866F9D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ECAE93-9144-BF33-1401-DF6FFF6FA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23929711"/>
      </p:ext>
    </p:extLst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B56A89-B019-96BD-5BAD-62AE0C3AC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22B60B4-76B8-D88B-5674-F86DC36707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9DE800A-255F-4AE1-5E56-606A61B37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21-11-2025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DFC92BF-9B9F-10CC-5BC8-BAC85DDB9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3372357-062E-F22F-4B80-ED779DDD1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1426009"/>
      </p:ext>
    </p:extLst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399D17-3BAA-B1F3-D450-274A02753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660F58E-6555-CC20-7FB5-60DB4AEFC8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2CAA47F-EB54-628D-A823-3A00718BE8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890AFF8-D9BE-4C13-0483-E843C51CA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21-11-2025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ECF5C03-2790-90EB-0D65-AA62820C0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491F526-CDE5-755B-4A3F-50F807763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52846858"/>
      </p:ext>
    </p:extLst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9CF108-6B99-8CCE-C8FD-D995F9965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B0B922A-6156-2235-AA95-A8B8C02B33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F40D8F2-325E-B2D8-EDDA-56DE9D1F2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58884F1-5F33-E36A-DEE4-9693FBE7DB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5DF08E0-1508-F512-337D-F5C8A5F0C3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553ED18-81E3-9782-22CD-40D6A1909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21-11-2025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78D2E67-9BFA-E800-3A7E-8900D96D4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56AEF8A-22F0-544A-1B96-40996F1A6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63044769"/>
      </p:ext>
    </p:extLst>
  </p:cSld>
  <p:clrMapOvr>
    <a:masterClrMapping/>
  </p:clrMapOvr>
  <p:transition spd="slow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80A5D8-AC89-1289-2F04-0814CB9B1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A703452B-17EB-394F-735B-5A921A58A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21-11-2025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60A54D4-94C4-7743-43A2-1A52792A4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9886359-BA16-2E60-D21D-C9E1AD88B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02827478"/>
      </p:ext>
    </p:extLst>
  </p:cSld>
  <p:clrMapOvr>
    <a:masterClrMapping/>
  </p:clrMapOvr>
  <p:transition spd="slow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E9082406-6A57-2057-24EC-1A6C257A2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21-11-2025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D4737A7-3975-9225-3AAC-282F9F456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758996F-BDE4-86FA-BD9D-DFCAB9143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53576406"/>
      </p:ext>
    </p:extLst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5B1326-48D6-CCCF-9030-3AC9A67CD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704BD84-4F55-3649-4756-7A4CE760D3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F111F47-438E-ECB7-5D1F-CB07E54FD6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01E9545-DD0E-6A0B-2B88-934785A7E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21-11-2025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23CD897-12AF-A56D-CB14-1B41012DE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9257B85-275B-F539-96E6-BF6C3F487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153514770"/>
      </p:ext>
    </p:extLst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45BFE8-4F8E-9F77-F45C-B4D870295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23CB21F6-368F-6F50-5C0D-6BE2DDE1E4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012122B-29C5-7F4E-7EFB-41EF277FCE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17332B2-B78B-790B-184B-C7299CC48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21-11-2025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61CBB3B-17B4-113F-AA5B-E804167AD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C8A1FFA-A66B-F32D-E3CE-2337B07F5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36603574"/>
      </p:ext>
    </p:extLst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CA4049-BEF3-0AFD-A19B-45FF1D820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4FD3394-1BB2-4A78-E0C2-B81E3B0A0C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FB1E014-02B1-2EA8-C324-69C065711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21-11-2025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5D9E46F-A5FD-E000-2817-06E54BC72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5F151D9-94A1-87E1-B673-4D3D316B9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85804739"/>
      </p:ext>
    </p:extLst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B72A6E5-A0E4-586A-8BAE-08F39AC9E9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C8C75B9-2362-53B4-3282-7D8A22F061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B97AA35-3C24-08C9-2992-BE0C70C5D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21-11-2025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103D78-DCDD-276E-7575-A1992D704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B60B15A-BAF6-5EBF-7331-0AFFFFABE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23337686"/>
      </p:ext>
    </p:extLst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48B6D4E-E3C2-3792-E3C4-2CBC2E052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882E89E-FB21-817B-8050-7AD81F9CED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3A1C48C-F8B6-B30A-3815-D7ADD14FF2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1704C8-43E3-4F4F-BE90-356A640D5754}" type="datetimeFigureOut">
              <a:rPr lang="es-CL" smtClean="0"/>
              <a:t>21-11-2025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909214F-88E2-1045-9D0B-C2ECD481C3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38CA17-DD6E-139F-6ED9-FAD83BB727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567036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1996592"/>
            <a:ext cx="12191999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PROYECTO “</a:t>
            </a:r>
            <a:r>
              <a:rPr lang="pt-BR" sz="4400" dirty="0"/>
              <a:t>Dulce Osadía</a:t>
            </a:r>
            <a:r>
              <a:rPr lang="es-MX" sz="4400" dirty="0"/>
              <a:t>”</a:t>
            </a:r>
          </a:p>
          <a:p>
            <a:pPr algn="ctr"/>
            <a:r>
              <a:rPr lang="es-MX" sz="2400" dirty="0"/>
              <a:t>PRESENTACIÓN FINAL CAPSTONE</a:t>
            </a:r>
            <a:endParaRPr lang="es-CL" sz="240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A320647-E61C-4062-BBE8-34550B133D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78396" y="3722636"/>
            <a:ext cx="4835207" cy="1655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1963198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Diagrama 4">
            <a:extLst>
              <a:ext uri="{FF2B5EF4-FFF2-40B4-BE49-F238E27FC236}">
                <a16:creationId xmlns:a16="http://schemas.microsoft.com/office/drawing/2014/main" id="{CD98BAAD-E67E-3FB9-220F-BD3AA3645F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48182624"/>
              </p:ext>
            </p:extLst>
          </p:nvPr>
        </p:nvGraphicFramePr>
        <p:xfrm>
          <a:off x="4121026" y="1710819"/>
          <a:ext cx="7633494" cy="43505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</a:t>
            </a:r>
            <a:r>
              <a:rPr lang="pt-BR" dirty="0"/>
              <a:t>Dulce Osadía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INTEGRANTES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6815989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</a:t>
            </a:r>
            <a:r>
              <a:rPr lang="pt-BR" dirty="0"/>
              <a:t>Dulce Osadía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DESCRIPCIÓN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5CB288BD-84B1-DF16-6004-32D5F8A61FF7}"/>
              </a:ext>
            </a:extLst>
          </p:cNvPr>
          <p:cNvSpPr/>
          <p:nvPr/>
        </p:nvSpPr>
        <p:spPr>
          <a:xfrm>
            <a:off x="714909" y="2169769"/>
            <a:ext cx="4348705" cy="4473125"/>
          </a:xfrm>
          <a:prstGeom prst="roundRect">
            <a:avLst>
              <a:gd name="adj" fmla="val 109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lvl="0" algn="ctr"/>
            <a:r>
              <a:rPr lang="es-MX" sz="2800" u="sng" dirty="0"/>
              <a:t>Problema</a:t>
            </a:r>
          </a:p>
          <a:p>
            <a:pPr lvl="0" algn="ctr"/>
            <a:endParaRPr lang="es-MX" u="sng" dirty="0"/>
          </a:p>
          <a:p>
            <a:r>
              <a:rPr lang="es-MX" sz="1800" dirty="0"/>
              <a:t>Descripción: </a:t>
            </a:r>
            <a:r>
              <a:rPr lang="es-MX" b="1" dirty="0"/>
              <a:t>Falta de visibilidad de inventario:</a:t>
            </a:r>
            <a:r>
              <a:rPr lang="es-MX" dirty="0"/>
              <a:t> Carecen de datos en tiempo real sobre materias primas, provocando quiebres de stock, desperdicios por caducidad y demoras en cálculos manuales. </a:t>
            </a:r>
          </a:p>
          <a:p>
            <a:r>
              <a:rPr lang="es-MX" b="1" dirty="0"/>
              <a:t>Ausencia de canal digital:</a:t>
            </a:r>
            <a:r>
              <a:rPr lang="es-MX" dirty="0"/>
              <a:t> No contar con ventas en línea limita el alcance a clientes locales y dificulta el seguimiento de pedidos y cobros, generando sobrecarga administrativa.</a:t>
            </a:r>
            <a:endParaRPr lang="es-CL" sz="1800" dirty="0"/>
          </a:p>
          <a:p>
            <a:pPr lvl="0" algn="ctr"/>
            <a:endParaRPr lang="es-CL" sz="1800" u="sng" dirty="0"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DDC84C5C-77A0-B2A2-F0BB-8A7713B865EA}"/>
              </a:ext>
            </a:extLst>
          </p:cNvPr>
          <p:cNvSpPr/>
          <p:nvPr/>
        </p:nvSpPr>
        <p:spPr>
          <a:xfrm>
            <a:off x="6912079" y="2177325"/>
            <a:ext cx="4348705" cy="4473125"/>
          </a:xfrm>
          <a:prstGeom prst="roundRect">
            <a:avLst>
              <a:gd name="adj" fmla="val 109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lvl="0" algn="ctr"/>
            <a:r>
              <a:rPr lang="es-MX" sz="2800" u="sng" dirty="0"/>
              <a:t>Propuesta de solución</a:t>
            </a:r>
          </a:p>
          <a:p>
            <a:pPr lvl="0" algn="ctr"/>
            <a:endParaRPr lang="es-MX" u="sng" dirty="0"/>
          </a:p>
          <a:p>
            <a:pPr lvl="0"/>
            <a:r>
              <a:rPr lang="es-MX" dirty="0"/>
              <a:t>Descripción: </a:t>
            </a:r>
            <a:r>
              <a:rPr lang="es-MX" b="1" dirty="0"/>
              <a:t>Plataforma Centralizada:</a:t>
            </a:r>
            <a:r>
              <a:rPr lang="es-MX" dirty="0"/>
              <a:t> Implementación de un sistema web que centraliza el registro de insumos y automatiza el cálculo de rendimientos de recetas. </a:t>
            </a:r>
          </a:p>
          <a:p>
            <a:pPr lvl="0"/>
            <a:r>
              <a:rPr lang="es-MX" b="1" dirty="0"/>
              <a:t>E-commerce:</a:t>
            </a:r>
            <a:r>
              <a:rPr lang="es-MX" dirty="0"/>
              <a:t> Desarrollo de un portal de ventas con carrito de compras, gestión de pedidos e integración de pagos con tarjeta. </a:t>
            </a:r>
          </a:p>
          <a:p>
            <a:pPr lvl="0"/>
            <a:r>
              <a:rPr lang="es-MX" b="1" dirty="0"/>
              <a:t>Gestión Administrativa:</a:t>
            </a:r>
            <a:r>
              <a:rPr lang="es-MX" dirty="0"/>
              <a:t> Herramientas para optimizar el aprovisionamiento y la planificación de lotes de producción.</a:t>
            </a:r>
            <a:endParaRPr lang="es-CL" sz="1800" dirty="0"/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E4B09E7F-FBE6-31BF-0C0F-DD32DBE05724}"/>
              </a:ext>
            </a:extLst>
          </p:cNvPr>
          <p:cNvSpPr/>
          <p:nvPr/>
        </p:nvSpPr>
        <p:spPr>
          <a:xfrm>
            <a:off x="5456903" y="3736258"/>
            <a:ext cx="1140542" cy="7570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7573075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</a:t>
            </a:r>
            <a:r>
              <a:rPr lang="pt-BR" dirty="0"/>
              <a:t>Dulce Osadía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384304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Objetivo General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uadroTexto 1">
            <a:extLst>
              <a:ext uri="{FF2B5EF4-FFF2-40B4-BE49-F238E27FC236}">
                <a16:creationId xmlns:a16="http://schemas.microsoft.com/office/drawing/2014/main" id="{733B57D9-BF13-9372-D021-14655CF00C4C}"/>
              </a:ext>
            </a:extLst>
          </p:cNvPr>
          <p:cNvSpPr txBox="1"/>
          <p:nvPr/>
        </p:nvSpPr>
        <p:spPr>
          <a:xfrm>
            <a:off x="1" y="3625728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Objetivos Específicos</a:t>
            </a:r>
            <a:endParaRPr lang="es-CL" dirty="0"/>
          </a:p>
        </p:txBody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08D4A171-2FE3-5173-34E6-9DC3D74E7376}"/>
              </a:ext>
            </a:extLst>
          </p:cNvPr>
          <p:cNvSpPr/>
          <p:nvPr/>
        </p:nvSpPr>
        <p:spPr>
          <a:xfrm>
            <a:off x="614515" y="2040571"/>
            <a:ext cx="10962967" cy="1575221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MX" dirty="0"/>
              <a:t>Descripción: Implementar una plataforma web integral que centralice el control de inventario, automatice recetas y ofrezca un canal de venta online para optimizar la gestión y ampliar el mercado de Dulce Osadía.</a:t>
            </a:r>
            <a:endParaRPr lang="es-CL" dirty="0"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7E63425F-86F4-531E-E0F5-7A349604A51E}"/>
              </a:ext>
            </a:extLst>
          </p:cNvPr>
          <p:cNvSpPr/>
          <p:nvPr/>
        </p:nvSpPr>
        <p:spPr>
          <a:xfrm>
            <a:off x="614516" y="4152123"/>
            <a:ext cx="10962967" cy="2621902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MX" dirty="0"/>
              <a:t>Descripción: </a:t>
            </a:r>
            <a:r>
              <a:rPr lang="es-MX" b="1" dirty="0"/>
              <a:t>Desarrollar un módulo de inventario</a:t>
            </a:r>
            <a:r>
              <a:rPr lang="es-MX" dirty="0"/>
              <a:t> que permita registrar insumos, controlar su disponibilidad y generar alertas de stock mínimo. </a:t>
            </a:r>
            <a:r>
              <a:rPr lang="es-MX" b="1" dirty="0"/>
              <a:t>Implementar un gestor de recetas</a:t>
            </a:r>
            <a:r>
              <a:rPr lang="es-MX" dirty="0"/>
              <a:t> que calcule automáticamente los insumos requeridos según el volumen de producción. </a:t>
            </a:r>
            <a:r>
              <a:rPr lang="es-MX" b="1" dirty="0"/>
              <a:t>Construir un catálogo digital de productos</a:t>
            </a:r>
            <a:r>
              <a:rPr lang="es-MX" dirty="0"/>
              <a:t> con descripciones, fotografías y precios. </a:t>
            </a:r>
            <a:r>
              <a:rPr lang="es-MX" b="1" dirty="0"/>
              <a:t>Crear un carrito de compras funcional</a:t>
            </a:r>
            <a:r>
              <a:rPr lang="es-MX" dirty="0"/>
              <a:t>, permitiendo agregar, modificar y eliminar productos. </a:t>
            </a:r>
            <a:r>
              <a:rPr lang="es-MX" b="1" dirty="0"/>
              <a:t>Implementar un flujo de pago integrado</a:t>
            </a:r>
            <a:r>
              <a:rPr lang="es-MX" dirty="0"/>
              <a:t> mediante Transbank SDK, asegurando transacciones seguras. </a:t>
            </a:r>
            <a:r>
              <a:rPr lang="es-CL" b="1" dirty="0"/>
              <a:t>Desarrollar un módulo de pedidos</a:t>
            </a:r>
            <a:r>
              <a:rPr lang="es-CL" dirty="0"/>
              <a:t>, permitiendo visualizar estados (pendiente, pagado, entregado).</a:t>
            </a:r>
          </a:p>
          <a:p>
            <a:r>
              <a:rPr lang="es-MX" b="1" dirty="0"/>
              <a:t>Integrar notificaciones automáticas</a:t>
            </a:r>
            <a:r>
              <a:rPr lang="es-MX" dirty="0"/>
              <a:t> mediante </a:t>
            </a:r>
            <a:r>
              <a:rPr lang="es-MX" dirty="0" err="1"/>
              <a:t>PHPMailer</a:t>
            </a:r>
            <a:r>
              <a:rPr lang="es-MX" dirty="0"/>
              <a:t> (confirmación de compra, recuperación de contraseña). </a:t>
            </a:r>
            <a:r>
              <a:rPr lang="es-MX" b="1" dirty="0"/>
              <a:t>Construir una base de datos en MySQL</a:t>
            </a:r>
            <a:r>
              <a:rPr lang="es-MX" dirty="0"/>
              <a:t>, completamente normalizada y vinculada a la lógica del sistema.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2717669782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</a:t>
            </a:r>
            <a:r>
              <a:rPr lang="pt-BR" dirty="0"/>
              <a:t>Dulce Osadía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970468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Alcances y limitaciones del proyecto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53D76530-8DA2-D8AC-9B94-FB7491B8D8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8498" y="1663489"/>
            <a:ext cx="9417130" cy="4801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s-MX" b="1" dirty="0"/>
              <a:t>Alcances</a:t>
            </a:r>
          </a:p>
          <a:p>
            <a:endParaRPr lang="es-MX" b="1" dirty="0"/>
          </a:p>
          <a:p>
            <a:r>
              <a:rPr lang="es-MX" b="1" dirty="0"/>
              <a:t>Gestión de usuarios</a:t>
            </a:r>
            <a:r>
              <a:rPr lang="es-MX" dirty="0"/>
              <a:t>: registro, inicio de sesión, recuperación de contraseña y activación por correo.</a:t>
            </a:r>
          </a:p>
          <a:p>
            <a:r>
              <a:rPr lang="es-MX" b="1" dirty="0"/>
              <a:t>Inventario</a:t>
            </a:r>
            <a:r>
              <a:rPr lang="es-MX" dirty="0"/>
              <a:t>: CRUD completo de insumos y alertas automáticas de stock mínimo.</a:t>
            </a:r>
          </a:p>
          <a:p>
            <a:r>
              <a:rPr lang="es-MX" b="1" dirty="0"/>
              <a:t>Recetas</a:t>
            </a:r>
            <a:r>
              <a:rPr lang="es-MX" dirty="0"/>
              <a:t>: creación, edición y cálculo automático de insumos por receta.</a:t>
            </a:r>
          </a:p>
          <a:p>
            <a:r>
              <a:rPr lang="es-MX" b="1" dirty="0"/>
              <a:t>Ventas</a:t>
            </a:r>
            <a:r>
              <a:rPr lang="es-MX" dirty="0"/>
              <a:t>: catálogo, carrito de compra y flujo de pago con Transbank.</a:t>
            </a:r>
          </a:p>
          <a:p>
            <a:r>
              <a:rPr lang="es-MX" b="1" dirty="0"/>
              <a:t>Pedidos</a:t>
            </a:r>
            <a:r>
              <a:rPr lang="es-MX" dirty="0"/>
              <a:t>: historial de transacciones y visualización del estado del pedido.</a:t>
            </a:r>
          </a:p>
          <a:p>
            <a:r>
              <a:rPr lang="es-MX" b="1" dirty="0"/>
              <a:t>Notificaciones</a:t>
            </a:r>
            <a:r>
              <a:rPr lang="es-MX" dirty="0"/>
              <a:t>: correos automáticos mediante </a:t>
            </a:r>
            <a:r>
              <a:rPr lang="es-MX" dirty="0" err="1"/>
              <a:t>PHPMailer</a:t>
            </a:r>
            <a:r>
              <a:rPr lang="es-MX" dirty="0"/>
              <a:t>.</a:t>
            </a:r>
          </a:p>
          <a:p>
            <a:r>
              <a:rPr lang="es-MX" b="1" dirty="0"/>
              <a:t>Interfaz de administración</a:t>
            </a:r>
            <a:r>
              <a:rPr lang="es-MX" dirty="0"/>
              <a:t>: panel para gestión de inventario, recetas y ventas.</a:t>
            </a:r>
          </a:p>
          <a:p>
            <a:endParaRPr lang="es-MX" dirty="0"/>
          </a:p>
          <a:p>
            <a:r>
              <a:rPr lang="es-MX" b="1" dirty="0"/>
              <a:t>Limitaciones</a:t>
            </a:r>
          </a:p>
          <a:p>
            <a:endParaRPr lang="es-MX" b="1" dirty="0"/>
          </a:p>
          <a:p>
            <a:r>
              <a:rPr lang="es-MX" dirty="0"/>
              <a:t>No incluye aplicación móvil.</a:t>
            </a:r>
          </a:p>
          <a:p>
            <a:r>
              <a:rPr lang="es-MX" dirty="0"/>
              <a:t>No incluye </a:t>
            </a:r>
            <a:r>
              <a:rPr lang="es-MX" dirty="0" err="1"/>
              <a:t>dashboards</a:t>
            </a:r>
            <a:r>
              <a:rPr lang="es-MX" dirty="0"/>
              <a:t> avanzados de analítica (solo métricas básicas).</a:t>
            </a:r>
          </a:p>
          <a:p>
            <a:r>
              <a:rPr lang="es-MX" dirty="0"/>
              <a:t>No integra múltiples métodos de pago (solo Transbank).</a:t>
            </a:r>
          </a:p>
          <a:p>
            <a:r>
              <a:rPr lang="es-MX" dirty="0"/>
              <a:t>No dispone de sistema </a:t>
            </a:r>
            <a:r>
              <a:rPr lang="es-MX" dirty="0" err="1"/>
              <a:t>multi-sucursal</a:t>
            </a:r>
            <a:r>
              <a:rPr lang="es-MX" dirty="0"/>
              <a:t>.</a:t>
            </a:r>
          </a:p>
          <a:p>
            <a:r>
              <a:rPr lang="es-MX" dirty="0"/>
              <a:t>No se implementa facturación electrónica.</a:t>
            </a:r>
            <a:endParaRPr kumimoji="0" lang="es-CL" altLang="es-C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9956469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</a:t>
            </a:r>
            <a:r>
              <a:rPr lang="pt-BR" dirty="0"/>
              <a:t>Dulce Osadía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Metodología de trabajo para el desarrollo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uadroTexto 2">
            <a:extLst>
              <a:ext uri="{FF2B5EF4-FFF2-40B4-BE49-F238E27FC236}">
                <a16:creationId xmlns:a16="http://schemas.microsoft.com/office/drawing/2014/main" id="{256578F6-FE30-6A1D-D3AD-9EC19C06752B}"/>
              </a:ext>
            </a:extLst>
          </p:cNvPr>
          <p:cNvSpPr txBox="1"/>
          <p:nvPr/>
        </p:nvSpPr>
        <p:spPr>
          <a:xfrm>
            <a:off x="879411" y="2518739"/>
            <a:ext cx="616286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CL" dirty="0"/>
              <a:t>Se utilizó la metodología ágil </a:t>
            </a:r>
            <a:r>
              <a:rPr lang="es-CL" b="1" dirty="0"/>
              <a:t>Scrum</a:t>
            </a:r>
            <a:r>
              <a:rPr lang="es-CL" dirty="0"/>
              <a:t>, con:</a:t>
            </a:r>
          </a:p>
          <a:p>
            <a:pPr>
              <a:buNone/>
            </a:pPr>
            <a:endParaRPr lang="es-CL" dirty="0"/>
          </a:p>
          <a:p>
            <a:pPr>
              <a:buFont typeface="Arial" panose="020B0604020202020204" pitchFamily="34" charset="0"/>
              <a:buChar char="•"/>
            </a:pPr>
            <a:r>
              <a:rPr lang="es-CL" b="1" dirty="0"/>
              <a:t>3 </a:t>
            </a:r>
            <a:r>
              <a:rPr lang="es-CL" b="1" dirty="0" err="1"/>
              <a:t>Sprints</a:t>
            </a:r>
            <a:r>
              <a:rPr lang="es-CL" b="1" dirty="0"/>
              <a:t> de 6 semanas</a:t>
            </a:r>
            <a:r>
              <a:rPr lang="es-CL" dirty="0"/>
              <a:t> cada uno.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CL" b="1" dirty="0"/>
              <a:t>Sprint </a:t>
            </a:r>
            <a:r>
              <a:rPr lang="es-CL" b="1" dirty="0" err="1"/>
              <a:t>Planning</a:t>
            </a:r>
            <a:r>
              <a:rPr lang="es-CL" dirty="0"/>
              <a:t> para definir metas.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CL" b="1" dirty="0"/>
              <a:t>Sprint Backlog</a:t>
            </a:r>
            <a:r>
              <a:rPr lang="es-CL" dirty="0"/>
              <a:t> con tareas priorizadas.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CL" b="1" dirty="0" err="1"/>
              <a:t>Daily</a:t>
            </a:r>
            <a:r>
              <a:rPr lang="es-CL" b="1" dirty="0"/>
              <a:t> Scrum semanal</a:t>
            </a:r>
            <a:r>
              <a:rPr lang="es-CL" dirty="0"/>
              <a:t>, para revisión de avances.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CL" b="1" dirty="0"/>
              <a:t>Sprint </a:t>
            </a:r>
            <a:r>
              <a:rPr lang="es-CL" b="1" dirty="0" err="1"/>
              <a:t>Review</a:t>
            </a:r>
            <a:r>
              <a:rPr lang="es-CL" dirty="0"/>
              <a:t>, mostrando incrementos funcionales.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CL" b="1" dirty="0"/>
              <a:t>Sprint Retrospective</a:t>
            </a:r>
            <a:r>
              <a:rPr lang="es-CL" dirty="0"/>
              <a:t>, para mejoras del proceso.</a:t>
            </a:r>
          </a:p>
          <a:p>
            <a:pPr>
              <a:buNone/>
            </a:pPr>
            <a:r>
              <a:rPr lang="es-CL" b="1" dirty="0"/>
              <a:t>Gestión de proyecto:</a:t>
            </a:r>
            <a:endParaRPr lang="es-CL" dirty="0"/>
          </a:p>
          <a:p>
            <a:pPr>
              <a:buFont typeface="Arial" panose="020B0604020202020204" pitchFamily="34" charset="0"/>
              <a:buChar char="•"/>
            </a:pPr>
            <a:r>
              <a:rPr lang="es-CL" dirty="0"/>
              <a:t>Trello para planificación de tareas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CL" dirty="0"/>
              <a:t>GitHub para control de versiones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CL" dirty="0"/>
              <a:t>XAMPP para ejecución local</a:t>
            </a:r>
          </a:p>
        </p:txBody>
      </p:sp>
    </p:spTree>
    <p:extLst>
      <p:ext uri="{BB962C8B-B14F-4D97-AF65-F5344CB8AC3E}">
        <p14:creationId xmlns:p14="http://schemas.microsoft.com/office/powerpoint/2010/main" val="3964199749"/>
      </p:ext>
    </p:extLst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</a:t>
            </a:r>
            <a:r>
              <a:rPr lang="pt-BR" dirty="0"/>
              <a:t>Dulce Osadía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1" y="1155656"/>
            <a:ext cx="12191999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Cronograma para el desarrollo del proyecto</a:t>
            </a:r>
          </a:p>
          <a:p>
            <a:pPr algn="ctr"/>
            <a:endParaRPr lang="es-CL" sz="1000" dirty="0">
              <a:solidFill>
                <a:schemeClr val="bg2">
                  <a:lumMod val="50000"/>
                </a:schemeClr>
              </a:solidFill>
            </a:endParaRP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7BB5CADE-DDA2-A4F7-629E-7AEEB49F57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6812927"/>
              </p:ext>
            </p:extLst>
          </p:nvPr>
        </p:nvGraphicFramePr>
        <p:xfrm>
          <a:off x="1248696" y="2052735"/>
          <a:ext cx="10235372" cy="4713618"/>
        </p:xfrm>
        <a:graphic>
          <a:graphicData uri="http://schemas.openxmlformats.org/drawingml/2006/table">
            <a:tbl>
              <a:tblPr firstRow="1" firstCol="1" bandRow="1"/>
              <a:tblGrid>
                <a:gridCol w="1245540">
                  <a:extLst>
                    <a:ext uri="{9D8B030D-6E8A-4147-A177-3AD203B41FA5}">
                      <a16:colId xmlns:a16="http://schemas.microsoft.com/office/drawing/2014/main" val="1385875515"/>
                    </a:ext>
                  </a:extLst>
                </a:gridCol>
                <a:gridCol w="494161">
                  <a:extLst>
                    <a:ext uri="{9D8B030D-6E8A-4147-A177-3AD203B41FA5}">
                      <a16:colId xmlns:a16="http://schemas.microsoft.com/office/drawing/2014/main" val="3026825544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3982458150"/>
                    </a:ext>
                  </a:extLst>
                </a:gridCol>
                <a:gridCol w="484940">
                  <a:extLst>
                    <a:ext uri="{9D8B030D-6E8A-4147-A177-3AD203B41FA5}">
                      <a16:colId xmlns:a16="http://schemas.microsoft.com/office/drawing/2014/main" val="2813336322"/>
                    </a:ext>
                  </a:extLst>
                </a:gridCol>
                <a:gridCol w="484940">
                  <a:extLst>
                    <a:ext uri="{9D8B030D-6E8A-4147-A177-3AD203B41FA5}">
                      <a16:colId xmlns:a16="http://schemas.microsoft.com/office/drawing/2014/main" val="666810208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441682826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1853034618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161666760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2597728732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3367593723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1610561930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4078685469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1033199576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3244852290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2661357519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1629908258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2147780406"/>
                    </a:ext>
                  </a:extLst>
                </a:gridCol>
                <a:gridCol w="140136">
                  <a:extLst>
                    <a:ext uri="{9D8B030D-6E8A-4147-A177-3AD203B41FA5}">
                      <a16:colId xmlns:a16="http://schemas.microsoft.com/office/drawing/2014/main" val="2368806540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3867265020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3959863927"/>
                    </a:ext>
                  </a:extLst>
                </a:gridCol>
                <a:gridCol w="140136">
                  <a:extLst>
                    <a:ext uri="{9D8B030D-6E8A-4147-A177-3AD203B41FA5}">
                      <a16:colId xmlns:a16="http://schemas.microsoft.com/office/drawing/2014/main" val="366369285"/>
                    </a:ext>
                  </a:extLst>
                </a:gridCol>
              </a:tblGrid>
              <a:tr h="714106">
                <a:tc row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Actividad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Fase 1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gridSpan="1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Fase 2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Fase 3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D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3283734"/>
                  </a:ext>
                </a:extLst>
              </a:tr>
              <a:tr h="735964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2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3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4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5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6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7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8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9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10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11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12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13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14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15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16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17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18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L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0616602"/>
                  </a:ext>
                </a:extLst>
              </a:tr>
              <a:tr h="130341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1100" dirty="0"/>
                        <a:t>Sprint 1</a:t>
                      </a:r>
                    </a:p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1100" dirty="0"/>
                        <a:t>Inventario, recetas, BD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L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7018220"/>
                  </a:ext>
                </a:extLst>
              </a:tr>
              <a:tr h="1130129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r>
                        <a:rPr lang="es-CL" sz="1100" dirty="0"/>
                        <a:t>Sprint 2 </a:t>
                      </a:r>
                    </a:p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1100" dirty="0"/>
                        <a:t>Catálogo, carrito, pedidos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L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1361947"/>
                  </a:ext>
                </a:extLst>
              </a:tr>
              <a:tr h="675124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r>
                        <a:rPr lang="es-CL" sz="1100" dirty="0"/>
                        <a:t>Sprint 3</a:t>
                      </a:r>
                    </a:p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1100" dirty="0"/>
                        <a:t>Pagos, correos, documentación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D5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D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L" sz="1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234952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24313383"/>
      </p:ext>
    </p:ext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</a:t>
            </a:r>
            <a:r>
              <a:rPr lang="pt-BR" dirty="0"/>
              <a:t>Dulce Osadía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871676"/>
            <a:ext cx="1219199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Arquitectura del software</a:t>
            </a:r>
          </a:p>
          <a:p>
            <a:pPr algn="ctr"/>
            <a:endParaRPr lang="es-MX" sz="2400" dirty="0">
              <a:solidFill>
                <a:schemeClr val="bg2">
                  <a:lumMod val="50000"/>
                </a:schemeClr>
              </a:solidFill>
            </a:endParaRP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FFE6B0C1-EECF-24D0-26BD-F227431D6A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35100" y="1410759"/>
            <a:ext cx="9321799" cy="5078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s-CL" b="1" dirty="0"/>
              <a:t>Modelo: MVC (Modelo-Vista-Controlador)</a:t>
            </a:r>
          </a:p>
          <a:p>
            <a:endParaRPr lang="es-CL" b="1" dirty="0"/>
          </a:p>
          <a:p>
            <a:r>
              <a:rPr lang="es-CL" b="1" dirty="0" err="1"/>
              <a:t>Frontend</a:t>
            </a:r>
            <a:r>
              <a:rPr lang="es-CL" b="1" dirty="0"/>
              <a:t>: </a:t>
            </a:r>
            <a:r>
              <a:rPr lang="es-CL" dirty="0"/>
              <a:t>HTML5,CSS3,JavaScript, AJAX para comunicación asíncrona</a:t>
            </a:r>
          </a:p>
          <a:p>
            <a:endParaRPr lang="es-CL" dirty="0"/>
          </a:p>
          <a:p>
            <a:r>
              <a:rPr lang="es-CL" b="1" dirty="0"/>
              <a:t>Backend: </a:t>
            </a:r>
            <a:r>
              <a:rPr lang="es-CL" dirty="0"/>
              <a:t>PHP (arquitectura modular),Controladores con respuestas </a:t>
            </a:r>
            <a:r>
              <a:rPr lang="es-CL" dirty="0" err="1"/>
              <a:t>JSON,Validaciones</a:t>
            </a:r>
            <a:r>
              <a:rPr lang="es-CL" dirty="0"/>
              <a:t> en backend</a:t>
            </a:r>
          </a:p>
          <a:p>
            <a:endParaRPr lang="es-CL" dirty="0"/>
          </a:p>
          <a:p>
            <a:r>
              <a:rPr lang="es-CL" b="1" dirty="0"/>
              <a:t>Base de Datos: </a:t>
            </a:r>
            <a:r>
              <a:rPr lang="es-CL" dirty="0"/>
              <a:t>MySQL, Modelo relacional con 9 tablas </a:t>
            </a:r>
            <a:r>
              <a:rPr lang="es-CL" dirty="0" err="1"/>
              <a:t>principales,Uso</a:t>
            </a:r>
            <a:r>
              <a:rPr lang="es-CL" dirty="0"/>
              <a:t> de PDO para consultas seguras</a:t>
            </a:r>
          </a:p>
          <a:p>
            <a:endParaRPr lang="es-CL" dirty="0"/>
          </a:p>
          <a:p>
            <a:r>
              <a:rPr lang="es-CL" b="1" dirty="0"/>
              <a:t>Servidor: </a:t>
            </a:r>
            <a:r>
              <a:rPr lang="es-CL" dirty="0"/>
              <a:t>Apache 2.4 (XAMPP / </a:t>
            </a:r>
            <a:r>
              <a:rPr lang="es-CL" dirty="0" err="1"/>
              <a:t>Laragon</a:t>
            </a:r>
            <a:r>
              <a:rPr lang="es-CL" dirty="0"/>
              <a:t>)</a:t>
            </a:r>
          </a:p>
          <a:p>
            <a:endParaRPr lang="es-CL" dirty="0"/>
          </a:p>
          <a:p>
            <a:r>
              <a:rPr lang="es-CL" b="1" dirty="0"/>
              <a:t>Integraciones:</a:t>
            </a:r>
          </a:p>
          <a:p>
            <a:endParaRPr lang="es-CL" b="1" dirty="0"/>
          </a:p>
          <a:p>
            <a:r>
              <a:rPr lang="es-CL" b="1" dirty="0"/>
              <a:t>Transbank SDK</a:t>
            </a:r>
            <a:r>
              <a:rPr lang="es-CL" dirty="0"/>
              <a:t>: pagos Webpay</a:t>
            </a:r>
          </a:p>
          <a:p>
            <a:endParaRPr lang="es-CL" dirty="0"/>
          </a:p>
          <a:p>
            <a:r>
              <a:rPr lang="es-CL" b="1" dirty="0" err="1"/>
              <a:t>PHPMailer</a:t>
            </a:r>
            <a:r>
              <a:rPr lang="es-CL" dirty="0"/>
              <a:t>: envío de correos</a:t>
            </a:r>
          </a:p>
          <a:p>
            <a:endParaRPr lang="es-CL" dirty="0"/>
          </a:p>
          <a:p>
            <a:r>
              <a:rPr lang="es-CL" b="1" dirty="0"/>
              <a:t>PHP </a:t>
            </a:r>
            <a:r>
              <a:rPr lang="es-CL" b="1" dirty="0" err="1"/>
              <a:t>dotenv</a:t>
            </a:r>
            <a:r>
              <a:rPr lang="es-CL" dirty="0"/>
              <a:t>: variables de entorno</a:t>
            </a:r>
            <a:endParaRPr kumimoji="0" lang="es-CL" altLang="es-C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0491460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</a:t>
            </a:r>
            <a:r>
              <a:rPr lang="pt-BR" dirty="0"/>
              <a:t>Dulce Osadía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154280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Modelo de datos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99035CF5-0004-019C-E02F-AB60BC8D8D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06393" y="2290984"/>
            <a:ext cx="6421794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Usuarios: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Gestión de cuentas y clientes.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Productos: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Catálogo de venta (Alfajores, Trufas, etc.).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Insumos: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Materias primas para el inventario.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Recetas: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Relación entre insumos y productos para cálculo de rendimiento.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Pedidos/Transacciones: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Registro de ventas y pagos.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07998180-8237-76CC-5639-2C22515AE0D7}"/>
              </a:ext>
            </a:extLst>
          </p:cNvPr>
          <p:cNvSpPr txBox="1"/>
          <p:nvPr/>
        </p:nvSpPr>
        <p:spPr>
          <a:xfrm>
            <a:off x="310244" y="2290984"/>
            <a:ext cx="5269463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MX" b="1" dirty="0"/>
              <a:t>Tablas principales:</a:t>
            </a:r>
            <a:endParaRPr lang="es-MX" dirty="0"/>
          </a:p>
          <a:p>
            <a:pPr>
              <a:buFont typeface="Arial" panose="020B0604020202020204" pitchFamily="34" charset="0"/>
              <a:buChar char="•"/>
            </a:pPr>
            <a:r>
              <a:rPr lang="es-MX" b="1" dirty="0"/>
              <a:t>clientes</a:t>
            </a:r>
            <a:r>
              <a:rPr lang="es-MX" dirty="0"/>
              <a:t>: datos del comprador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b="1" dirty="0"/>
              <a:t>usuarios</a:t>
            </a:r>
            <a:r>
              <a:rPr lang="es-MX" dirty="0"/>
              <a:t>: administración interna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b="1" dirty="0"/>
              <a:t>productos</a:t>
            </a:r>
            <a:r>
              <a:rPr lang="es-MX" dirty="0"/>
              <a:t>: catálogo para venta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b="1" dirty="0"/>
              <a:t>insumos</a:t>
            </a:r>
            <a:r>
              <a:rPr lang="es-MX" dirty="0"/>
              <a:t>: stock de materias primas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b="1" dirty="0"/>
              <a:t>receta</a:t>
            </a:r>
            <a:r>
              <a:rPr lang="es-MX" dirty="0"/>
              <a:t>: definición del producto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b="1" dirty="0" err="1"/>
              <a:t>detallereceta</a:t>
            </a:r>
            <a:r>
              <a:rPr lang="es-MX" dirty="0"/>
              <a:t>: insumos por receta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b="1" dirty="0"/>
              <a:t>compra</a:t>
            </a:r>
            <a:r>
              <a:rPr lang="es-MX" dirty="0"/>
              <a:t>: registro de transacciones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b="1" dirty="0" err="1"/>
              <a:t>detalle_compra</a:t>
            </a:r>
            <a:r>
              <a:rPr lang="es-MX" dirty="0"/>
              <a:t>: productos dentro de la compra</a:t>
            </a:r>
          </a:p>
          <a:p>
            <a:pPr>
              <a:buNone/>
            </a:pPr>
            <a:r>
              <a:rPr lang="es-MX" b="1" dirty="0"/>
              <a:t>Relaciones clave:</a:t>
            </a:r>
            <a:endParaRPr lang="es-MX" dirty="0"/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Cliente → Compra (1:N)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Compra → Detalle (1:N)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Producto → Detalle (1:N)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Receta → </a:t>
            </a:r>
            <a:r>
              <a:rPr lang="es-MX" dirty="0" err="1"/>
              <a:t>DetalleReceta</a:t>
            </a:r>
            <a:r>
              <a:rPr lang="es-MX" dirty="0"/>
              <a:t> → Insumos (N:N)</a:t>
            </a:r>
          </a:p>
        </p:txBody>
      </p:sp>
    </p:spTree>
    <p:extLst>
      <p:ext uri="{BB962C8B-B14F-4D97-AF65-F5344CB8AC3E}">
        <p14:creationId xmlns:p14="http://schemas.microsoft.com/office/powerpoint/2010/main" val="2752457618"/>
      </p:ext>
    </p:extLst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</a:t>
            </a:r>
            <a:r>
              <a:rPr lang="pt-BR" dirty="0"/>
              <a:t>Dulce Osadía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Tecnologías utilizadas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AACA3FF3-0DD4-FAFF-D094-CABF94486B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739908"/>
            <a:ext cx="6307494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Lenguajes:</a:t>
            </a:r>
            <a:r>
              <a:rPr kumimoji="0" lang="es-CL" altLang="es-CL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PHP, HTML, CSS, JavaScript, SQL.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Gestión de Dependencias:</a:t>
            </a:r>
            <a:r>
              <a:rPr kumimoji="0" lang="es-CL" altLang="es-CL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Composer.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Librerías Clave:</a:t>
            </a:r>
            <a:endParaRPr kumimoji="0" lang="es-CL" altLang="es-CL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Transbank SDK:</a:t>
            </a:r>
            <a:r>
              <a:rPr kumimoji="0" lang="es-CL" altLang="es-CL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Para pasarela de pagos segura.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PHPMailer:</a:t>
            </a:r>
            <a:r>
              <a:rPr kumimoji="0" lang="es-CL" altLang="es-CL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Para envío de correos electrónicos.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phpdotenv:</a:t>
            </a:r>
            <a:r>
              <a:rPr kumimoji="0" lang="es-CL" altLang="es-CL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Para gestión segura de variables de entorno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CL" altLang="es-CL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5368746"/>
      </p:ext>
    </p:extLst>
  </p:cSld>
  <p:clrMapOvr>
    <a:masterClrMapping/>
  </p:clrMapOvr>
  <p:transition spd="slow">
    <p:wip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2707792"/>
            <a:ext cx="12191999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DEMOSTRACIÓN DEL RESULTADO DEL PROYECTO</a:t>
            </a:r>
          </a:p>
          <a:p>
            <a:pPr algn="ctr"/>
            <a:endParaRPr lang="es-CL" sz="240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9174681"/>
      </p:ext>
    </p:extLst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1459095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Resultados obtenidos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C60FD5C-8685-586F-14D7-8E39BEBEC3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861" y="2833228"/>
            <a:ext cx="9937102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Optimización Interna: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Reducción de quiebres de stock y desperdicios gracias a la visibilidad de materias primas y gestión de recetas.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Expansión de Ventas: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Apertura de un nuevo canal digital que rompe la barrera local mediante catálogo y carrito web.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Automatización: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Disminución de la carga administrativa mediante pagos integrados y notificaciones automáticas.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Robustez Técnica: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Sistema seguro y escalable basado en tecnologías estándar (PHP, SQL).</a:t>
            </a:r>
          </a:p>
        </p:txBody>
      </p:sp>
    </p:spTree>
    <p:extLst>
      <p:ext uri="{BB962C8B-B14F-4D97-AF65-F5344CB8AC3E}">
        <p14:creationId xmlns:p14="http://schemas.microsoft.com/office/powerpoint/2010/main" val="2904893737"/>
      </p:ext>
    </p:extLst>
  </p:cSld>
  <p:clrMapOvr>
    <a:masterClrMapping/>
  </p:clrMapOvr>
  <p:transition spd="slow">
    <p:wip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1360773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Obstáculos presentados durante el desarrollo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70015B5-727E-5058-9C1E-B8199DDB3B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241" y="2841086"/>
            <a:ext cx="11596317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Integración con Transbank:</a:t>
            </a:r>
            <a:r>
              <a:rPr kumimoji="0" lang="es-CL" altLang="es-CL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configuración de certificados y respuesta del API provocó retrasos iniciales.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Normalización de la base de datos:</a:t>
            </a:r>
            <a:r>
              <a:rPr kumimoji="0" lang="es-CL" altLang="es-CL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se requirió rediseño para evitar duplicidad y mejorar integridad referencial.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Problemas con PHPMailer:</a:t>
            </a:r>
            <a:r>
              <a:rPr kumimoji="0" lang="es-CL" altLang="es-CL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bloqueos por puertos SMTP y restricciones de servidor local.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Carga académica externa:</a:t>
            </a:r>
            <a:r>
              <a:rPr kumimoji="0" lang="es-CL" altLang="es-CL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coordinación de tiempos entre ambos integrantes dificultó los sprints iniciales.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Gestión de sesiones:</a:t>
            </a:r>
            <a:r>
              <a:rPr kumimoji="0" lang="es-CL" altLang="es-CL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mantener coherencia entre carrito, usuario y compra requería validación adicional.</a:t>
            </a:r>
          </a:p>
        </p:txBody>
      </p:sp>
    </p:spTree>
    <p:extLst>
      <p:ext uri="{BB962C8B-B14F-4D97-AF65-F5344CB8AC3E}">
        <p14:creationId xmlns:p14="http://schemas.microsoft.com/office/powerpoint/2010/main" val="1266268508"/>
      </p:ext>
    </p:extLst>
  </p:cSld>
  <p:clrMapOvr>
    <a:masterClrMapping/>
  </p:clrMapOvr>
  <p:transition spd="slow">
    <p:wip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0" y="3044279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PREGUNTAS DE LA COMISIÓN</a:t>
            </a:r>
          </a:p>
        </p:txBody>
      </p:sp>
    </p:spTree>
    <p:extLst>
      <p:ext uri="{BB962C8B-B14F-4D97-AF65-F5344CB8AC3E}">
        <p14:creationId xmlns:p14="http://schemas.microsoft.com/office/powerpoint/2010/main" val="4158079731"/>
      </p:ext>
    </p:extLst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</TotalTime>
  <Words>1147</Words>
  <Application>Microsoft Office PowerPoint</Application>
  <PresentationFormat>Panorámica</PresentationFormat>
  <Paragraphs>209</Paragraphs>
  <Slides>14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Gerardo Galan Cruz</dc:creator>
  <cp:lastModifiedBy>SSDD</cp:lastModifiedBy>
  <cp:revision>17</cp:revision>
  <dcterms:created xsi:type="dcterms:W3CDTF">2023-10-28T21:12:11Z</dcterms:created>
  <dcterms:modified xsi:type="dcterms:W3CDTF">2025-11-21T12:18:32Z</dcterms:modified>
</cp:coreProperties>
</file>